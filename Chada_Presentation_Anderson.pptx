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213f75cc-4b99-6621-9fa1-9e99a1e2074c}">
          <p14:sldIdLst>
            <p14:sldId id="256"/>
          </p14:sldIdLst>
        </p14:section>
        <p14:section name="Scrum foundations" id="{7362d468-c43b-7c1a-e47e-640821249abc}">
          <p14:sldIdLst>
            <p14:sldId id="257"/>
            <p14:sldId id="258"/>
            <p14:sldId id="259"/>
            <p14:sldId id="260"/>
          </p14:sldIdLst>
        </p14:section>
        <p14:section name="Applying Scrum" id="{ee9338f9-5174-56a4-f486-cdbb2bc125fe}">
          <p14:sldIdLst>
            <p14:sldId id="261"/>
            <p14:sldId id="262"/>
            <p14:sldId id="263"/>
            <p14:sldId id="264"/>
          </p14:sldIdLst>
        </p14:section>
        <p14:section name="Wrap-up" id="{0b58eba0-a369-f307-4949-d2b8295009d6}">
          <p14:sldIdLst>
            <p14:sldId id="265"/>
          </p14:sldIdLst>
        </p14:section>
        <p14:section name="References" id="{8f49f8d3-84c1-10ef-0c28-242b7e32275e}">
          <p14:sldIdLst>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recommend continuing the Scrum pilot for SNHU Travel. This presentation explains the roles, the development lifecycle, and the factors that should guide a broader adoption decision. Project examples come from my individual course simulation and proposed next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Kaczor, K. (2025, April 7). Accountability, responsibility and authority in Scrum. Scrum.org. https://www.scrum.org/resources/blog/accountability-responsibility-and-authority-scrum
In the course simulation, I considered these responsibilities individually. In a working team, the accountabilities support one another. A specialist tester contributes as a Developer, and quality remains a shared responsibility.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Jackson, G., Holdsworth, J., &amp; Kosinski, M. (n.d.). What is the software development life cycle (SDLC)? IBM. https://www.ibm.com/think/topics/sdlc
These phases describe development work. They recur and overlap as the team builds small increments. They are not separate Scrum events or a required sequence of phase-only sprints.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Jackson, G., Holdsworth, J., &amp; Kosinski, M. (n.d.). What is the software development life cycle (SDLC)? IBM. https://www.ibm.com/think/topics/sdlc
A sprint should produce a usable increment. Deployment timing depends on readiness and the release decision. The JAR problem from my development work illustrates why packaging needs verification as well as source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Iqbal, M. (2022, May 31). The purpose of the five Scrum events. Scrum.org. https://www.scrum.org/node/59683
The Sprint is the container for the other events and lasts one month or less. The Review examines the product with stakeholders. The Retrospective examines how the team works. Backlog refinement is ongoing work, rather than a separate formal Scrum event.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maximum-budget requirements are from my coursework. The sample data below is a proposed test, not a claim that I ran it or that a finished feature passed. Acceptance criteria describe this story. A team Definition of Done provides the quality standard for the 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Madaan, K. (2024, April 30). Waterfall-ish playbook: How Jira Align helps traditional projects and portfolios succeed. Atlassian. https://www.atlassian.com/blog/jira-align/bringing-agility-to-project-mgmt
Jackson, G., Holdsworth, J., &amp; Kosinski, M. (n.d.). What is the software development life cycle (SDLC)? IBM. https://www.ibm.com/think/topics/sdlc
This is a comparison applied to SNHU Travel. In a sequential plan, a late personalization request could require revisiting approved requirements and design. Agile also needs change control through prioritization and scope discussion. Neither approach makes changes free.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Conforto, E. (2024, February 23). The hybrid era: Project management embraces the fit-for-purpose approach. Project Management Institute. https://www.pmi.org/blog/project-management-embraces-the-fit-for-purpose-approach
Madaan, K. (2024, April 30). Waterfall-ish playbook: How Jira Align helps traditional projects and portfolios succeed. Atlassian. https://www.atlassian.com/blog/jira-align/bringing-agility-to-project-mgmt
These are decision factors, not automatic rules. Conforto reports comparable performance across methods and supports tailoring the approach to project needs. Compliance requirements can exist under either approach. My recommendation for SNHU Travel is an application of those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Conforto, E. (2024, February 23). The hybrid era: Project management embraces the fit-for-purpose approach. Project Management Institute. https://www.pmi.org/blog/project-management-embraces-the-fit-for-purpose-approach
Iqbal, M. (2022, May 31). The purpose of the five Scrum events. Scrum.org. https://www.scrum.org/node/59683
The course simulation supports a reasoned recommendation, not measured proof of faster delivery. A real pilot should establish a baseline and track outcomes before expanding. A hybrid approach can retain needed governance while enabling iterative product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I recommend continuing the Scrum pilot for SNHU Travel, with clearer acceptance criteria and an early check of the exported application. I am happy to take questions about the roles, the lifecycle phases, or the decision factors.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dated professional sources in this presentation were published between 2022 and 2025. The IBM explanation provides an additional undated source for the lifecycle phases.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pic>
        <p:nvPicPr>
          <p:cNvPr id="2" name="Image 0" descr="/home/claude/logo_card.png">    </p:cNvPr>
          <p:cNvPicPr>
            <a:picLocks noChangeAspect="1"/>
          </p:cNvPicPr>
          <p:nvPr/>
        </p:nvPicPr>
        <p:blipFill>
          <a:blip r:embed="rId1"/>
          <a:stretch>
            <a:fillRect/>
          </a:stretch>
        </p:blipFill>
        <p:spPr>
          <a:xfrm>
            <a:off x="5669280" y="1325880"/>
            <a:ext cx="2926080" cy="2286000"/>
          </a:xfrm>
          <a:prstGeom prst="rect">
            <a:avLst/>
          </a:prstGeom>
        </p:spPr>
      </p:pic>
      <p:sp>
        <p:nvSpPr>
          <p:cNvPr id="3" name="Text 0"/>
          <p:cNvSpPr/>
          <p:nvPr>
            <p:ph idx="101" type="title" hasCustomPrompt="1"/>
          </p:nvPr>
        </p:nvSpPr>
        <p:spPr>
          <a:xfrm>
            <a:off x="548640" y="914400"/>
            <a:ext cx="4754880" cy="173736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548640" y="2788920"/>
            <a:ext cx="4754880" cy="457200"/>
          </a:xfrm>
          <a:prstGeom prst="rect">
            <a:avLst/>
          </a:prstGeom>
          <a:noFill/>
          <a:ln/>
        </p:spPr>
        <p:txBody>
          <a:bodyPr wrap="square" rtlCol="0"/>
          <a:lstStyle>
            <a:lvl1pPr indent="0" marL="0">
              <a:buNone/>
              <a:defRPr lang="en-US" sz="2000" dirty="0">
                <a:solidFill>
                  <a:schemeClr val="accent1"/>
                </a:solidFill>
              </a:defRPr>
            </a:lvl1pPr>
          </a:lstStyle>
          <a:p>
            <a:pPr indent="0" marL="0">
              <a:buNone/>
            </a:pPr>
            <a:endParaRPr lang="en-US" sz="2000" dirty="0"/>
          </a:p>
        </p:txBody>
      </p:sp>
      <p:sp>
        <p:nvSpPr>
          <p:cNvPr id="5" name="Text 0"/>
          <p:cNvSpPr/>
          <p:nvPr>
            <p:ph idx="103" type="body" hasCustomPrompt="1"/>
          </p:nvPr>
        </p:nvSpPr>
        <p:spPr>
          <a:xfrm>
            <a:off x="548640" y="3566160"/>
            <a:ext cx="4754880" cy="86868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home/claude/logo_big.png">    </p:cNvPr>
          <p:cNvPicPr>
            <a:picLocks noChangeAspect="1"/>
          </p:cNvPicPr>
          <p:nvPr/>
        </p:nvPicPr>
        <p:blipFill>
          <a:blip r:embed="rId1"/>
          <a:stretch>
            <a:fillRect/>
          </a:stretch>
        </p:blipFill>
        <p:spPr>
          <a:xfrm>
            <a:off x="7863840" y="365760"/>
            <a:ext cx="822960" cy="588874"/>
          </a:xfrm>
          <a:prstGeom prst="rect">
            <a:avLst/>
          </a:prstGeom>
        </p:spPr>
      </p:pic>
      <p:sp>
        <p:nvSpPr>
          <p:cNvPr id="3" name="Text 0"/>
          <p:cNvSpPr/>
          <p:nvPr>
            <p:ph idx="101" type="title" hasCustomPrompt="1"/>
          </p:nvPr>
        </p:nvSpPr>
        <p:spPr>
          <a:xfrm>
            <a:off x="457200" y="274320"/>
            <a:ext cx="7132320" cy="91440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4" name="Text 0"/>
          <p:cNvSpPr/>
          <p:nvPr>
            <p:ph idx="102" type="body" hasCustomPrompt="1"/>
          </p:nvPr>
        </p:nvSpPr>
        <p:spPr>
          <a:xfrm>
            <a:off x="457200" y="4663440"/>
            <a:ext cx="6858000" cy="274320"/>
          </a:xfrm>
          <a:prstGeom prst="rect">
            <a:avLst/>
          </a:prstGeom>
          <a:noFill/>
          <a:ln/>
        </p:spPr>
        <p:txBody>
          <a:bodyPr wrap="square" rtlCol="0"/>
          <a:lstStyle>
            <a:lvl1pPr indent="0" marL="0">
              <a:buNone/>
              <a:defRPr lang="en-US" sz="1100" dirty="0">
                <a:solidFill>
                  <a:schemeClr val="accent5"/>
                </a:solidFill>
              </a:defRPr>
            </a:lvl1pPr>
          </a:lstStyle>
          <a:p>
            <a:pPr indent="0" marL="0">
              <a:buNone/>
            </a:pP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slideLayout" Target="../slideLayouts/slideLayout3.xml"/><Relationship Id="rId5"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3.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1" type="title" hasCustomPrompt="1"/>
          </p:nvPr>
        </p:nvSpPr>
        <p:spPr>
          <a:xfrm>
            <a:off x="548640" y="914400"/>
            <a:ext cx="4754880" cy="1737360"/>
          </a:xfrm>
          <a:prstGeom prst="rect">
            <a:avLst/>
          </a:prstGeom>
          <a:noFill/>
          <a:ln/>
        </p:spPr>
        <p:txBody>
          <a:bodyPr wrap="square" lIns="0" tIns="0" rIns="0" bIns="0" rtlCol="0" anchor="b"/>
          <a:lstStyle/>
          <a:p>
            <a:pPr algn="l" indent="0" marL="0">
              <a:buNone/>
            </a:pPr>
            <a:r>
              <a:rPr lang="en-US" sz="4000" b="1" dirty="0">
                <a:solidFill>
                  <a:schemeClr val="bg1"/>
                </a:solidFill>
              </a:rPr>
              <a:t>Scrum and Agile for SNHU Travel</a:t>
            </a:r>
            <a:endParaRPr lang="en-US" sz="4000" dirty="0"/>
          </a:p>
        </p:txBody>
      </p:sp>
      <p:sp>
        <p:nvSpPr>
          <p:cNvPr id="3" name="Text 0"/>
          <p:cNvSpPr/>
          <p:nvPr>
            <p:ph idx="102" type="body" hasCustomPrompt="1"/>
          </p:nvPr>
        </p:nvSpPr>
        <p:spPr>
          <a:xfrm>
            <a:off x="548640" y="2788920"/>
            <a:ext cx="4754880" cy="457200"/>
          </a:xfrm>
          <a:prstGeom prst="rect">
            <a:avLst/>
          </a:prstGeom>
          <a:noFill/>
          <a:ln/>
        </p:spPr>
        <p:txBody>
          <a:bodyPr wrap="square" lIns="0" tIns="0" rIns="0" bIns="0" rtlCol="0" anchor="t"/>
          <a:lstStyle/>
          <a:p>
            <a:pPr indent="0" marL="0">
              <a:buNone/>
            </a:pPr>
            <a:r>
              <a:rPr lang="en-US" sz="2000" dirty="0">
                <a:solidFill>
                  <a:schemeClr val="accent1"/>
                </a:solidFill>
              </a:rPr>
              <a:t>Recommendation for ChadaTech leadership</a:t>
            </a:r>
            <a:endParaRPr lang="en-US" sz="2000" dirty="0"/>
          </a:p>
        </p:txBody>
      </p:sp>
      <p:sp>
        <p:nvSpPr>
          <p:cNvPr id="4" name="Text 0"/>
          <p:cNvSpPr/>
          <p:nvPr>
            <p:ph idx="103" type="body" hasCustomPrompt="1"/>
          </p:nvPr>
        </p:nvSpPr>
        <p:spPr>
          <a:xfrm>
            <a:off x="548640" y="3566160"/>
            <a:ext cx="4754880" cy="868680"/>
          </a:xfrm>
          <a:prstGeom prst="rect">
            <a:avLst/>
          </a:prstGeom>
          <a:noFill/>
          <a:ln/>
        </p:spPr>
        <p:txBody>
          <a:bodyPr wrap="square" lIns="0" tIns="0" rIns="0" bIns="0" rtlCol="0" anchor="t"/>
          <a:lstStyle/>
          <a:p>
            <a:pPr indent="0" marL="0">
              <a:buNone/>
            </a:pPr>
            <a:r>
              <a:rPr lang="en-US" sz="1400" b="1" dirty="0">
                <a:solidFill>
                  <a:schemeClr val="bg1"/>
                </a:solidFill>
              </a:rPr>
              <a:t>William Anderson</a:t>
            </a:r>
            <a:endParaRPr lang="en-US" sz="1400" dirty="0"/>
          </a:p>
          <a:p>
            <a:pPr indent="0" marL="0">
              <a:buNone/>
            </a:pPr>
            <a:r>
              <a:rPr lang="en-US" sz="1400" dirty="0">
                <a:solidFill>
                  <a:schemeClr val="accent4"/>
                </a:solidFill>
              </a:rPr>
              <a:t>CS 250 Software Development Lifecycle</a:t>
            </a:r>
            <a:endParaRPr lang="en-US" sz="1400" dirty="0"/>
          </a:p>
          <a:p>
            <a:pPr indent="0" marL="0">
              <a:buNone/>
            </a:pPr>
            <a:r>
              <a:rPr lang="en-US" sz="1400" dirty="0">
                <a:solidFill>
                  <a:schemeClr val="accent4"/>
                </a:solidFill>
              </a:rPr>
              <a:t>October 18, 2026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Scrum team roles</a:t>
            </a:r>
            <a:endParaRPr lang="en-US" sz="3200" dirty="0"/>
          </a:p>
        </p:txBody>
      </p:sp>
      <p:sp>
        <p:nvSpPr>
          <p:cNvPr id="3" name="Product Owner card"/>
          <p:cNvSpPr/>
          <p:nvPr/>
        </p:nvSpPr>
        <p:spPr>
          <a:xfrm>
            <a:off x="457200" y="1325880"/>
            <a:ext cx="2587752" cy="2852928"/>
          </a:xfrm>
          <a:prstGeom prst="roundRect">
            <a:avLst>
              <a:gd name="adj" fmla="val 3534"/>
            </a:avLst>
          </a:prstGeom>
          <a:solidFill>
            <a:schemeClr val="bg2"/>
          </a:solidFill>
          <a:ln/>
        </p:spPr>
      </p:sp>
      <p:sp>
        <p:nvSpPr>
          <p:cNvPr id="4" name="Product Owner circle"/>
          <p:cNvSpPr/>
          <p:nvPr/>
        </p:nvSpPr>
        <p:spPr>
          <a:xfrm>
            <a:off x="640080" y="1490472"/>
            <a:ext cx="457200" cy="457200"/>
          </a:xfrm>
          <a:prstGeom prst="ellipse">
            <a:avLst/>
          </a:prstGeom>
          <a:solidFill>
            <a:schemeClr val="tx1"/>
          </a:solidFill>
          <a:ln/>
        </p:spPr>
      </p:sp>
      <p:pic>
        <p:nvPicPr>
          <p:cNvPr id="5" name="Product Owner icon" descr="preencoded.png">    </p:cNvPr>
          <p:cNvPicPr>
            <a:picLocks noChangeAspect="1"/>
          </p:cNvPicPr>
          <p:nvPr/>
        </p:nvPicPr>
        <p:blipFill>
          <a:blip r:embed="rId1"/>
          <a:stretch>
            <a:fillRect/>
          </a:stretch>
        </p:blipFill>
        <p:spPr>
          <a:xfrm>
            <a:off x="758952" y="1609344"/>
            <a:ext cx="219456" cy="219456"/>
          </a:xfrm>
          <a:prstGeom prst="rect">
            <a:avLst/>
          </a:prstGeom>
        </p:spPr>
      </p:pic>
      <p:sp>
        <p:nvSpPr>
          <p:cNvPr id="6" name="Product Owner title"/>
          <p:cNvSpPr txBox="1"/>
          <p:nvPr/>
        </p:nvSpPr>
        <p:spPr>
          <a:xfrm>
            <a:off x="640080" y="2020824"/>
            <a:ext cx="2221992" cy="329184"/>
          </a:xfrm>
          <a:prstGeom prst="rect">
            <a:avLst/>
          </a:prstGeom>
          <a:noFill/>
          <a:ln/>
        </p:spPr>
        <p:txBody>
          <a:bodyPr wrap="square" lIns="0" tIns="0" rIns="0" bIns="0" rtlCol="0" anchor="ctr"/>
          <a:lstStyle/>
          <a:p>
            <a:pPr indent="0" marL="0">
              <a:buNone/>
            </a:pPr>
            <a:r>
              <a:rPr lang="en-US" sz="1800" b="1" dirty="0">
                <a:solidFill>
                  <a:schemeClr val="tx1"/>
                </a:solidFill>
              </a:rPr>
              <a:t>Product Owner</a:t>
            </a:r>
            <a:endParaRPr lang="en-US" sz="1800" dirty="0"/>
          </a:p>
        </p:txBody>
      </p:sp>
      <p:sp>
        <p:nvSpPr>
          <p:cNvPr id="7" name="Product Owner responsibility"/>
          <p:cNvSpPr txBox="1"/>
          <p:nvPr/>
        </p:nvSpPr>
        <p:spPr>
          <a:xfrm>
            <a:off x="640080" y="2368296"/>
            <a:ext cx="2221992" cy="713232"/>
          </a:xfrm>
          <a:prstGeom prst="rect">
            <a:avLst/>
          </a:prstGeom>
          <a:noFill/>
          <a:ln/>
        </p:spPr>
        <p:txBody>
          <a:bodyPr wrap="square" lIns="0" tIns="0" rIns="0" bIns="0" rtlCol="0" anchor="t"/>
          <a:lstStyle/>
          <a:p>
            <a:pPr indent="0" marL="0">
              <a:buNone/>
            </a:pPr>
            <a:r>
              <a:rPr lang="en-US" sz="1400" dirty="0">
                <a:solidFill>
                  <a:schemeClr val="tx1"/>
                </a:solidFill>
              </a:rPr>
              <a:t>Maximize value and order the Product Backlog.</a:t>
            </a:r>
            <a:endParaRPr lang="en-US" sz="1400" dirty="0"/>
          </a:p>
        </p:txBody>
      </p:sp>
      <p:sp>
        <p:nvSpPr>
          <p:cNvPr id="8" name="Product Owner example box"/>
          <p:cNvSpPr/>
          <p:nvPr/>
        </p:nvSpPr>
        <p:spPr>
          <a:xfrm>
            <a:off x="566928" y="3090672"/>
            <a:ext cx="2368296" cy="987552"/>
          </a:xfrm>
          <a:prstGeom prst="roundRect">
            <a:avLst>
              <a:gd name="adj" fmla="val 9259"/>
            </a:avLst>
          </a:prstGeom>
          <a:solidFill>
            <a:schemeClr val="bg1"/>
          </a:solidFill>
          <a:ln/>
        </p:spPr>
      </p:sp>
      <p:sp>
        <p:nvSpPr>
          <p:cNvPr id="9" name="Product Owner example"/>
          <p:cNvSpPr txBox="1"/>
          <p:nvPr/>
        </p:nvSpPr>
        <p:spPr>
          <a:xfrm>
            <a:off x="676656" y="3154680"/>
            <a:ext cx="2148840" cy="868680"/>
          </a:xfrm>
          <a:prstGeom prst="rect">
            <a:avLst/>
          </a:prstGeom>
          <a:noFill/>
          <a:ln/>
        </p:spPr>
        <p:txBody>
          <a:bodyPr wrap="square" lIns="0" tIns="0" rIns="0" bIns="0" rtlCol="0" anchor="t"/>
          <a:lstStyle/>
          <a:p>
            <a:pPr indent="0" marL="0">
              <a:buNone/>
            </a:pPr>
            <a:r>
              <a:rPr lang="en-US" sz="1100" b="1" dirty="0">
                <a:solidFill>
                  <a:schemeClr val="accent2"/>
                </a:solidFill>
              </a:rPr>
              <a:t>SNHU Travel example</a:t>
            </a:r>
            <a:endParaRPr lang="en-US" sz="1400" dirty="0"/>
          </a:p>
          <a:p>
            <a:pPr indent="0" marL="0">
              <a:buNone/>
            </a:pPr>
            <a:r>
              <a:rPr lang="en-US" sz="1400" dirty="0">
                <a:solidFill>
                  <a:schemeClr val="tx1"/>
                </a:solidFill>
              </a:rPr>
              <a:t>Prioritize budget filtering and travel preferences.</a:t>
            </a:r>
            <a:endParaRPr lang="en-US" sz="1400" dirty="0"/>
          </a:p>
        </p:txBody>
      </p:sp>
      <p:sp>
        <p:nvSpPr>
          <p:cNvPr id="10" name="Scrum Master card"/>
          <p:cNvSpPr/>
          <p:nvPr/>
        </p:nvSpPr>
        <p:spPr>
          <a:xfrm>
            <a:off x="3278124" y="1325880"/>
            <a:ext cx="2587752" cy="2852928"/>
          </a:xfrm>
          <a:prstGeom prst="roundRect">
            <a:avLst>
              <a:gd name="adj" fmla="val 3534"/>
            </a:avLst>
          </a:prstGeom>
          <a:solidFill>
            <a:schemeClr val="bg2"/>
          </a:solidFill>
          <a:ln/>
        </p:spPr>
      </p:sp>
      <p:sp>
        <p:nvSpPr>
          <p:cNvPr id="11" name="Scrum Master circle"/>
          <p:cNvSpPr/>
          <p:nvPr/>
        </p:nvSpPr>
        <p:spPr>
          <a:xfrm>
            <a:off x="3461004" y="1490472"/>
            <a:ext cx="457200" cy="457200"/>
          </a:xfrm>
          <a:prstGeom prst="ellipse">
            <a:avLst/>
          </a:prstGeom>
          <a:solidFill>
            <a:schemeClr val="tx1"/>
          </a:solidFill>
          <a:ln/>
        </p:spPr>
      </p:sp>
      <p:pic>
        <p:nvPicPr>
          <p:cNvPr id="12" name="Scrum Master icon" descr="preencoded.png">    </p:cNvPr>
          <p:cNvPicPr>
            <a:picLocks noChangeAspect="1"/>
          </p:cNvPicPr>
          <p:nvPr/>
        </p:nvPicPr>
        <p:blipFill>
          <a:blip r:embed="rId2"/>
          <a:stretch>
            <a:fillRect/>
          </a:stretch>
        </p:blipFill>
        <p:spPr>
          <a:xfrm>
            <a:off x="3579876" y="1609344"/>
            <a:ext cx="219456" cy="219456"/>
          </a:xfrm>
          <a:prstGeom prst="rect">
            <a:avLst/>
          </a:prstGeom>
        </p:spPr>
      </p:pic>
      <p:sp>
        <p:nvSpPr>
          <p:cNvPr id="13" name="Scrum Master title"/>
          <p:cNvSpPr txBox="1"/>
          <p:nvPr/>
        </p:nvSpPr>
        <p:spPr>
          <a:xfrm>
            <a:off x="3461004" y="2020824"/>
            <a:ext cx="2221992" cy="329184"/>
          </a:xfrm>
          <a:prstGeom prst="rect">
            <a:avLst/>
          </a:prstGeom>
          <a:noFill/>
          <a:ln/>
        </p:spPr>
        <p:txBody>
          <a:bodyPr wrap="square" lIns="0" tIns="0" rIns="0" bIns="0" rtlCol="0" anchor="ctr"/>
          <a:lstStyle/>
          <a:p>
            <a:pPr indent="0" marL="0">
              <a:buNone/>
            </a:pPr>
            <a:r>
              <a:rPr lang="en-US" sz="1800" b="1" dirty="0">
                <a:solidFill>
                  <a:schemeClr val="tx1"/>
                </a:solidFill>
              </a:rPr>
              <a:t>Scrum Master</a:t>
            </a:r>
            <a:endParaRPr lang="en-US" sz="1800" dirty="0"/>
          </a:p>
        </p:txBody>
      </p:sp>
      <p:sp>
        <p:nvSpPr>
          <p:cNvPr id="14" name="Scrum Master responsibility"/>
          <p:cNvSpPr txBox="1"/>
          <p:nvPr/>
        </p:nvSpPr>
        <p:spPr>
          <a:xfrm>
            <a:off x="3461004" y="2368296"/>
            <a:ext cx="2221992" cy="713232"/>
          </a:xfrm>
          <a:prstGeom prst="rect">
            <a:avLst/>
          </a:prstGeom>
          <a:noFill/>
          <a:ln/>
        </p:spPr>
        <p:txBody>
          <a:bodyPr wrap="square" lIns="0" tIns="0" rIns="0" bIns="0" rtlCol="0" anchor="t"/>
          <a:lstStyle/>
          <a:p>
            <a:pPr indent="0" marL="0">
              <a:buNone/>
            </a:pPr>
            <a:r>
              <a:rPr lang="en-US" sz="1400" dirty="0">
                <a:solidFill>
                  <a:schemeClr val="tx1"/>
                </a:solidFill>
              </a:rPr>
              <a:t>Support effective Scrum and help remove obstacles.</a:t>
            </a:r>
            <a:endParaRPr lang="en-US" sz="1400" dirty="0"/>
          </a:p>
        </p:txBody>
      </p:sp>
      <p:sp>
        <p:nvSpPr>
          <p:cNvPr id="15" name="Scrum Master example box"/>
          <p:cNvSpPr/>
          <p:nvPr/>
        </p:nvSpPr>
        <p:spPr>
          <a:xfrm>
            <a:off x="3387852" y="3090672"/>
            <a:ext cx="2368296" cy="987552"/>
          </a:xfrm>
          <a:prstGeom prst="roundRect">
            <a:avLst>
              <a:gd name="adj" fmla="val 9259"/>
            </a:avLst>
          </a:prstGeom>
          <a:solidFill>
            <a:schemeClr val="bg1"/>
          </a:solidFill>
          <a:ln/>
        </p:spPr>
      </p:sp>
      <p:sp>
        <p:nvSpPr>
          <p:cNvPr id="16" name="Scrum Master example"/>
          <p:cNvSpPr txBox="1"/>
          <p:nvPr/>
        </p:nvSpPr>
        <p:spPr>
          <a:xfrm>
            <a:off x="3497580" y="3154680"/>
            <a:ext cx="2148840" cy="868680"/>
          </a:xfrm>
          <a:prstGeom prst="rect">
            <a:avLst/>
          </a:prstGeom>
          <a:noFill/>
          <a:ln/>
        </p:spPr>
        <p:txBody>
          <a:bodyPr wrap="square" lIns="0" tIns="0" rIns="0" bIns="0" rtlCol="0" anchor="t"/>
          <a:lstStyle/>
          <a:p>
            <a:pPr indent="0" marL="0">
              <a:buNone/>
            </a:pPr>
            <a:r>
              <a:rPr lang="en-US" sz="1100" b="1" dirty="0">
                <a:solidFill>
                  <a:schemeClr val="accent2"/>
                </a:solidFill>
              </a:rPr>
              <a:t>SNHU Travel example</a:t>
            </a:r>
            <a:endParaRPr lang="en-US" sz="1400" dirty="0"/>
          </a:p>
          <a:p>
            <a:pPr indent="0" marL="0">
              <a:buNone/>
            </a:pPr>
            <a:r>
              <a:rPr lang="en-US" sz="1400" dirty="0">
                <a:solidFill>
                  <a:schemeClr val="tx1"/>
                </a:solidFill>
              </a:rPr>
              <a:t>Make packaging blockers visible and support improvement.</a:t>
            </a:r>
            <a:endParaRPr lang="en-US" sz="1400" dirty="0"/>
          </a:p>
        </p:txBody>
      </p:sp>
      <p:sp>
        <p:nvSpPr>
          <p:cNvPr id="17" name="Developers card"/>
          <p:cNvSpPr/>
          <p:nvPr/>
        </p:nvSpPr>
        <p:spPr>
          <a:xfrm>
            <a:off x="6099048" y="1325880"/>
            <a:ext cx="2587752" cy="2852928"/>
          </a:xfrm>
          <a:prstGeom prst="roundRect">
            <a:avLst>
              <a:gd name="adj" fmla="val 3534"/>
            </a:avLst>
          </a:prstGeom>
          <a:solidFill>
            <a:schemeClr val="bg2"/>
          </a:solidFill>
          <a:ln/>
        </p:spPr>
      </p:sp>
      <p:sp>
        <p:nvSpPr>
          <p:cNvPr id="18" name="Developers circle"/>
          <p:cNvSpPr/>
          <p:nvPr/>
        </p:nvSpPr>
        <p:spPr>
          <a:xfrm>
            <a:off x="6281928" y="1490472"/>
            <a:ext cx="457200" cy="457200"/>
          </a:xfrm>
          <a:prstGeom prst="ellipse">
            <a:avLst/>
          </a:prstGeom>
          <a:solidFill>
            <a:schemeClr val="tx1"/>
          </a:solidFill>
          <a:ln/>
        </p:spPr>
      </p:sp>
      <p:pic>
        <p:nvPicPr>
          <p:cNvPr id="19" name="Developers icon" descr="preencoded.png">    </p:cNvPr>
          <p:cNvPicPr>
            <a:picLocks noChangeAspect="1"/>
          </p:cNvPicPr>
          <p:nvPr/>
        </p:nvPicPr>
        <p:blipFill>
          <a:blip r:embed="rId3"/>
          <a:stretch>
            <a:fillRect/>
          </a:stretch>
        </p:blipFill>
        <p:spPr>
          <a:xfrm>
            <a:off x="6400800" y="1609344"/>
            <a:ext cx="219456" cy="219456"/>
          </a:xfrm>
          <a:prstGeom prst="rect">
            <a:avLst/>
          </a:prstGeom>
        </p:spPr>
      </p:pic>
      <p:sp>
        <p:nvSpPr>
          <p:cNvPr id="20" name="Developers title"/>
          <p:cNvSpPr txBox="1"/>
          <p:nvPr/>
        </p:nvSpPr>
        <p:spPr>
          <a:xfrm>
            <a:off x="6281928" y="2020824"/>
            <a:ext cx="2221992" cy="329184"/>
          </a:xfrm>
          <a:prstGeom prst="rect">
            <a:avLst/>
          </a:prstGeom>
          <a:noFill/>
          <a:ln/>
        </p:spPr>
        <p:txBody>
          <a:bodyPr wrap="square" lIns="0" tIns="0" rIns="0" bIns="0" rtlCol="0" anchor="ctr"/>
          <a:lstStyle/>
          <a:p>
            <a:pPr indent="0" marL="0">
              <a:buNone/>
            </a:pPr>
            <a:r>
              <a:rPr lang="en-US" sz="1800" b="1" dirty="0">
                <a:solidFill>
                  <a:schemeClr val="tx1"/>
                </a:solidFill>
              </a:rPr>
              <a:t>Developers</a:t>
            </a:r>
            <a:endParaRPr lang="en-US" sz="1800" dirty="0"/>
          </a:p>
        </p:txBody>
      </p:sp>
      <p:sp>
        <p:nvSpPr>
          <p:cNvPr id="21" name="Developers responsibility"/>
          <p:cNvSpPr txBox="1"/>
          <p:nvPr/>
        </p:nvSpPr>
        <p:spPr>
          <a:xfrm>
            <a:off x="6281928" y="2368296"/>
            <a:ext cx="2221992" cy="713232"/>
          </a:xfrm>
          <a:prstGeom prst="rect">
            <a:avLst/>
          </a:prstGeom>
          <a:noFill/>
          <a:ln/>
        </p:spPr>
        <p:txBody>
          <a:bodyPr wrap="square" lIns="0" tIns="0" rIns="0" bIns="0" rtlCol="0" anchor="t"/>
          <a:lstStyle/>
          <a:p>
            <a:pPr indent="0" marL="0">
              <a:buNone/>
            </a:pPr>
            <a:r>
              <a:rPr lang="en-US" sz="1400" dirty="0">
                <a:solidFill>
                  <a:schemeClr val="tx1"/>
                </a:solidFill>
              </a:rPr>
              <a:t>Plan and build a usable increment that meets quality expectations.</a:t>
            </a:r>
            <a:endParaRPr lang="en-US" sz="1400" dirty="0"/>
          </a:p>
        </p:txBody>
      </p:sp>
      <p:sp>
        <p:nvSpPr>
          <p:cNvPr id="22" name="Developers example box"/>
          <p:cNvSpPr/>
          <p:nvPr/>
        </p:nvSpPr>
        <p:spPr>
          <a:xfrm>
            <a:off x="6208776" y="3090672"/>
            <a:ext cx="2368296" cy="987552"/>
          </a:xfrm>
          <a:prstGeom prst="roundRect">
            <a:avLst>
              <a:gd name="adj" fmla="val 9259"/>
            </a:avLst>
          </a:prstGeom>
          <a:solidFill>
            <a:schemeClr val="bg1"/>
          </a:solidFill>
          <a:ln/>
        </p:spPr>
      </p:sp>
      <p:sp>
        <p:nvSpPr>
          <p:cNvPr id="23" name="Developers example"/>
          <p:cNvSpPr txBox="1"/>
          <p:nvPr/>
        </p:nvSpPr>
        <p:spPr>
          <a:xfrm>
            <a:off x="6318504" y="3154680"/>
            <a:ext cx="2148840" cy="868680"/>
          </a:xfrm>
          <a:prstGeom prst="rect">
            <a:avLst/>
          </a:prstGeom>
          <a:noFill/>
          <a:ln/>
        </p:spPr>
        <p:txBody>
          <a:bodyPr wrap="square" lIns="0" tIns="0" rIns="0" bIns="0" rtlCol="0" anchor="t"/>
          <a:lstStyle/>
          <a:p>
            <a:pPr indent="0" marL="0">
              <a:buNone/>
            </a:pPr>
            <a:r>
              <a:rPr lang="en-US" sz="1100" b="1" dirty="0">
                <a:solidFill>
                  <a:schemeClr val="accent2"/>
                </a:solidFill>
              </a:rPr>
              <a:t>SNHU Travel example</a:t>
            </a:r>
            <a:endParaRPr lang="en-US" sz="1400" dirty="0"/>
          </a:p>
          <a:p>
            <a:pPr indent="0" marL="0">
              <a:buNone/>
            </a:pPr>
            <a:r>
              <a:rPr lang="en-US" sz="1400" dirty="0">
                <a:solidFill>
                  <a:schemeClr val="tx1"/>
                </a:solidFill>
              </a:rPr>
              <a:t>Design, code, test, and package the travel application.</a:t>
            </a:r>
            <a:endParaRPr lang="en-US" sz="1400" dirty="0"/>
          </a:p>
        </p:txBody>
      </p:sp>
      <p:sp>
        <p:nvSpPr>
          <p:cNvPr id="24" name="takeaway"/>
          <p:cNvSpPr txBox="1"/>
          <p:nvPr/>
        </p:nvSpPr>
        <p:spPr>
          <a:xfrm>
            <a:off x="457200" y="4279392"/>
            <a:ext cx="8229600" cy="329184"/>
          </a:xfrm>
          <a:prstGeom prst="rect">
            <a:avLst/>
          </a:prstGeom>
          <a:noFill/>
          <a:ln/>
        </p:spPr>
        <p:txBody>
          <a:bodyPr wrap="square" lIns="0" tIns="0" rIns="0" bIns="0" rtlCol="0" anchor="ctr"/>
          <a:lstStyle/>
          <a:p>
            <a:pPr indent="0" marL="0">
              <a:buNone/>
            </a:pPr>
            <a:r>
              <a:rPr lang="en-US" sz="1600" b="1" dirty="0">
                <a:solidFill>
                  <a:schemeClr val="accent2"/>
                </a:solidFill>
              </a:rPr>
              <a:t>Each accountability has clear decisions to own.</a:t>
            </a:r>
            <a:endParaRPr lang="en-US" sz="1600" dirty="0"/>
          </a:p>
        </p:txBody>
      </p:sp>
      <p:sp>
        <p:nvSpPr>
          <p:cNvPr id="25"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r>
              <a:rPr lang="en-US" sz="1100" dirty="0">
                <a:solidFill>
                  <a:schemeClr val="accent5"/>
                </a:solidFill>
              </a:rPr>
              <a:t>(Kaczor, 2025)</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SDLC phases in an Agile approach</a:t>
            </a:r>
            <a:endParaRPr lang="en-US" sz="3200" dirty="0"/>
          </a:p>
        </p:txBody>
      </p:sp>
      <p:sp>
        <p:nvSpPr>
          <p:cNvPr id="3" name="Planning card"/>
          <p:cNvSpPr/>
          <p:nvPr/>
        </p:nvSpPr>
        <p:spPr>
          <a:xfrm>
            <a:off x="457200" y="1325880"/>
            <a:ext cx="1920240" cy="2852928"/>
          </a:xfrm>
          <a:prstGeom prst="roundRect">
            <a:avLst>
              <a:gd name="adj" fmla="val 4762"/>
            </a:avLst>
          </a:prstGeom>
          <a:solidFill>
            <a:schemeClr val="bg2"/>
          </a:solidFill>
          <a:ln/>
        </p:spPr>
      </p:sp>
      <p:sp>
        <p:nvSpPr>
          <p:cNvPr id="4" name="Planning number circle"/>
          <p:cNvSpPr/>
          <p:nvPr/>
        </p:nvSpPr>
        <p:spPr>
          <a:xfrm>
            <a:off x="621792" y="1490472"/>
            <a:ext cx="457200" cy="457200"/>
          </a:xfrm>
          <a:prstGeom prst="ellipse">
            <a:avLst/>
          </a:prstGeom>
          <a:solidFill>
            <a:schemeClr val="tx1"/>
          </a:solidFill>
          <a:ln/>
        </p:spPr>
      </p:sp>
      <p:sp>
        <p:nvSpPr>
          <p:cNvPr id="5" name="Planning number"/>
          <p:cNvSpPr txBox="1"/>
          <p:nvPr/>
        </p:nvSpPr>
        <p:spPr>
          <a:xfrm>
            <a:off x="621792" y="1490472"/>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1</a:t>
            </a:r>
            <a:endParaRPr lang="en-US" sz="1800" dirty="0"/>
          </a:p>
        </p:txBody>
      </p:sp>
      <p:sp>
        <p:nvSpPr>
          <p:cNvPr id="6" name="Planning title"/>
          <p:cNvSpPr txBox="1"/>
          <p:nvPr/>
        </p:nvSpPr>
        <p:spPr>
          <a:xfrm>
            <a:off x="621792" y="2020824"/>
            <a:ext cx="1591056" cy="329184"/>
          </a:xfrm>
          <a:prstGeom prst="rect">
            <a:avLst/>
          </a:prstGeom>
          <a:noFill/>
          <a:ln/>
        </p:spPr>
        <p:txBody>
          <a:bodyPr wrap="square" lIns="0" tIns="0" rIns="0" bIns="0" rtlCol="0" anchor="ctr"/>
          <a:lstStyle/>
          <a:p>
            <a:pPr indent="0" marL="0">
              <a:buNone/>
            </a:pPr>
            <a:r>
              <a:rPr lang="en-US" sz="1800" b="1" dirty="0">
                <a:solidFill>
                  <a:schemeClr val="tx1"/>
                </a:solidFill>
              </a:rPr>
              <a:t>Planning</a:t>
            </a:r>
            <a:endParaRPr lang="en-US" sz="1800" dirty="0"/>
          </a:p>
        </p:txBody>
      </p:sp>
      <p:sp>
        <p:nvSpPr>
          <p:cNvPr id="7" name="Planning purpose"/>
          <p:cNvSpPr txBox="1"/>
          <p:nvPr/>
        </p:nvSpPr>
        <p:spPr>
          <a:xfrm>
            <a:off x="621792" y="2368296"/>
            <a:ext cx="1591056" cy="713232"/>
          </a:xfrm>
          <a:prstGeom prst="rect">
            <a:avLst/>
          </a:prstGeom>
          <a:noFill/>
          <a:ln/>
        </p:spPr>
        <p:txBody>
          <a:bodyPr wrap="square" lIns="0" tIns="0" rIns="0" bIns="0" rtlCol="0" anchor="t"/>
          <a:lstStyle/>
          <a:p>
            <a:pPr indent="0" marL="0">
              <a:buNone/>
            </a:pPr>
            <a:r>
              <a:rPr lang="en-US" sz="1400" dirty="0">
                <a:solidFill>
                  <a:schemeClr val="tx1"/>
                </a:solidFill>
              </a:rPr>
              <a:t>Set the goal and boundaries.</a:t>
            </a:r>
            <a:endParaRPr lang="en-US" sz="1400" dirty="0"/>
          </a:p>
        </p:txBody>
      </p:sp>
      <p:sp>
        <p:nvSpPr>
          <p:cNvPr id="8" name="Planning example box"/>
          <p:cNvSpPr/>
          <p:nvPr/>
        </p:nvSpPr>
        <p:spPr>
          <a:xfrm>
            <a:off x="548640" y="3090672"/>
            <a:ext cx="1737360" cy="987552"/>
          </a:xfrm>
          <a:prstGeom prst="roundRect">
            <a:avLst>
              <a:gd name="adj" fmla="val 9259"/>
            </a:avLst>
          </a:prstGeom>
          <a:solidFill>
            <a:schemeClr val="bg1"/>
          </a:solidFill>
          <a:ln/>
        </p:spPr>
      </p:sp>
      <p:sp>
        <p:nvSpPr>
          <p:cNvPr id="9" name="Planning example"/>
          <p:cNvSpPr txBox="1"/>
          <p:nvPr/>
        </p:nvSpPr>
        <p:spPr>
          <a:xfrm>
            <a:off x="640080" y="3154680"/>
            <a:ext cx="1554480" cy="868680"/>
          </a:xfrm>
          <a:prstGeom prst="rect">
            <a:avLst/>
          </a:prstGeom>
          <a:noFill/>
          <a:ln/>
        </p:spPr>
        <p:txBody>
          <a:bodyPr wrap="square" lIns="0" tIns="0" rIns="0" bIns="0" rtlCol="0" anchor="t"/>
          <a:lstStyle/>
          <a:p>
            <a:pPr indent="0" marL="0">
              <a:buNone/>
            </a:pPr>
            <a:r>
              <a:rPr lang="en-US" sz="1100" b="1" dirty="0">
                <a:solidFill>
                  <a:schemeClr val="accent2"/>
                </a:solidFill>
              </a:rPr>
              <a:t>Example</a:t>
            </a:r>
            <a:endParaRPr lang="en-US" sz="1400" dirty="0"/>
          </a:p>
          <a:p>
            <a:pPr indent="0" marL="0">
              <a:buNone/>
            </a:pPr>
            <a:r>
              <a:rPr lang="en-US" sz="1400" dirty="0">
                <a:solidFill>
                  <a:schemeClr val="tx1"/>
                </a:solidFill>
              </a:rPr>
              <a:t>Help travelers find suitable trips.</a:t>
            </a:r>
            <a:endParaRPr lang="en-US" sz="1400" dirty="0"/>
          </a:p>
        </p:txBody>
      </p:sp>
      <p:sp>
        <p:nvSpPr>
          <p:cNvPr id="10" name="Analysis card"/>
          <p:cNvSpPr/>
          <p:nvPr/>
        </p:nvSpPr>
        <p:spPr>
          <a:xfrm>
            <a:off x="2560320" y="1325880"/>
            <a:ext cx="1920240" cy="2852928"/>
          </a:xfrm>
          <a:prstGeom prst="roundRect">
            <a:avLst>
              <a:gd name="adj" fmla="val 4762"/>
            </a:avLst>
          </a:prstGeom>
          <a:solidFill>
            <a:schemeClr val="bg2"/>
          </a:solidFill>
          <a:ln/>
        </p:spPr>
      </p:sp>
      <p:sp>
        <p:nvSpPr>
          <p:cNvPr id="11" name="Analysis number circle"/>
          <p:cNvSpPr/>
          <p:nvPr/>
        </p:nvSpPr>
        <p:spPr>
          <a:xfrm>
            <a:off x="2724912" y="1490472"/>
            <a:ext cx="457200" cy="457200"/>
          </a:xfrm>
          <a:prstGeom prst="ellipse">
            <a:avLst/>
          </a:prstGeom>
          <a:solidFill>
            <a:schemeClr val="tx1"/>
          </a:solidFill>
          <a:ln/>
        </p:spPr>
      </p:sp>
      <p:sp>
        <p:nvSpPr>
          <p:cNvPr id="12" name="Analysis number"/>
          <p:cNvSpPr txBox="1"/>
          <p:nvPr/>
        </p:nvSpPr>
        <p:spPr>
          <a:xfrm>
            <a:off x="2724912" y="1490472"/>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2</a:t>
            </a:r>
            <a:endParaRPr lang="en-US" sz="1800" dirty="0"/>
          </a:p>
        </p:txBody>
      </p:sp>
      <p:sp>
        <p:nvSpPr>
          <p:cNvPr id="13" name="Analysis title"/>
          <p:cNvSpPr txBox="1"/>
          <p:nvPr/>
        </p:nvSpPr>
        <p:spPr>
          <a:xfrm>
            <a:off x="2724912" y="2020824"/>
            <a:ext cx="1591056" cy="329184"/>
          </a:xfrm>
          <a:prstGeom prst="rect">
            <a:avLst/>
          </a:prstGeom>
          <a:noFill/>
          <a:ln/>
        </p:spPr>
        <p:txBody>
          <a:bodyPr wrap="square" lIns="0" tIns="0" rIns="0" bIns="0" rtlCol="0" anchor="ctr"/>
          <a:lstStyle/>
          <a:p>
            <a:pPr indent="0" marL="0">
              <a:buNone/>
            </a:pPr>
            <a:r>
              <a:rPr lang="en-US" sz="1800" b="1" dirty="0">
                <a:solidFill>
                  <a:schemeClr val="tx1"/>
                </a:solidFill>
              </a:rPr>
              <a:t>Analysis</a:t>
            </a:r>
            <a:endParaRPr lang="en-US" sz="1800" dirty="0"/>
          </a:p>
        </p:txBody>
      </p:sp>
      <p:sp>
        <p:nvSpPr>
          <p:cNvPr id="14" name="Analysis purpose"/>
          <p:cNvSpPr txBox="1"/>
          <p:nvPr/>
        </p:nvSpPr>
        <p:spPr>
          <a:xfrm>
            <a:off x="2724912" y="2368296"/>
            <a:ext cx="1591056" cy="713232"/>
          </a:xfrm>
          <a:prstGeom prst="rect">
            <a:avLst/>
          </a:prstGeom>
          <a:noFill/>
          <a:ln/>
        </p:spPr>
        <p:txBody>
          <a:bodyPr wrap="square" lIns="0" tIns="0" rIns="0" bIns="0" rtlCol="0" anchor="t"/>
          <a:lstStyle/>
          <a:p>
            <a:pPr indent="0" marL="0">
              <a:buNone/>
            </a:pPr>
            <a:r>
              <a:rPr lang="en-US" sz="1400" dirty="0">
                <a:solidFill>
                  <a:schemeClr val="tx1"/>
                </a:solidFill>
              </a:rPr>
              <a:t>Clarify user needs and acceptance criteria.</a:t>
            </a:r>
            <a:endParaRPr lang="en-US" sz="1400" dirty="0"/>
          </a:p>
        </p:txBody>
      </p:sp>
      <p:sp>
        <p:nvSpPr>
          <p:cNvPr id="15" name="Analysis example box"/>
          <p:cNvSpPr/>
          <p:nvPr/>
        </p:nvSpPr>
        <p:spPr>
          <a:xfrm>
            <a:off x="2651760" y="3090672"/>
            <a:ext cx="1737360" cy="987552"/>
          </a:xfrm>
          <a:prstGeom prst="roundRect">
            <a:avLst>
              <a:gd name="adj" fmla="val 9259"/>
            </a:avLst>
          </a:prstGeom>
          <a:solidFill>
            <a:schemeClr val="bg1"/>
          </a:solidFill>
          <a:ln/>
        </p:spPr>
      </p:sp>
      <p:sp>
        <p:nvSpPr>
          <p:cNvPr id="16" name="Analysis example"/>
          <p:cNvSpPr txBox="1"/>
          <p:nvPr/>
        </p:nvSpPr>
        <p:spPr>
          <a:xfrm>
            <a:off x="2743200" y="3154680"/>
            <a:ext cx="1554480" cy="868680"/>
          </a:xfrm>
          <a:prstGeom prst="rect">
            <a:avLst/>
          </a:prstGeom>
          <a:noFill/>
          <a:ln/>
        </p:spPr>
        <p:txBody>
          <a:bodyPr wrap="square" lIns="0" tIns="0" rIns="0" bIns="0" rtlCol="0" anchor="t"/>
          <a:lstStyle/>
          <a:p>
            <a:pPr indent="0" marL="0">
              <a:buNone/>
            </a:pPr>
            <a:r>
              <a:rPr lang="en-US" sz="1100" b="1" dirty="0">
                <a:solidFill>
                  <a:schemeClr val="accent2"/>
                </a:solidFill>
              </a:rPr>
              <a:t>Example</a:t>
            </a:r>
            <a:endParaRPr lang="en-US" sz="1400" dirty="0"/>
          </a:p>
          <a:p>
            <a:pPr indent="0" marL="0">
              <a:buNone/>
            </a:pPr>
            <a:r>
              <a:rPr lang="en-US" sz="1400" dirty="0">
                <a:solidFill>
                  <a:schemeClr val="tx1"/>
                </a:solidFill>
              </a:rPr>
              <a:t>Define valid budgets and no-match behavior.</a:t>
            </a:r>
            <a:endParaRPr lang="en-US" sz="1400" dirty="0"/>
          </a:p>
        </p:txBody>
      </p:sp>
      <p:sp>
        <p:nvSpPr>
          <p:cNvPr id="17" name="Design card"/>
          <p:cNvSpPr/>
          <p:nvPr/>
        </p:nvSpPr>
        <p:spPr>
          <a:xfrm>
            <a:off x="4663440" y="1325880"/>
            <a:ext cx="1920240" cy="2852928"/>
          </a:xfrm>
          <a:prstGeom prst="roundRect">
            <a:avLst>
              <a:gd name="adj" fmla="val 4762"/>
            </a:avLst>
          </a:prstGeom>
          <a:solidFill>
            <a:schemeClr val="bg2"/>
          </a:solidFill>
          <a:ln/>
        </p:spPr>
      </p:sp>
      <p:sp>
        <p:nvSpPr>
          <p:cNvPr id="18" name="Design number circle"/>
          <p:cNvSpPr/>
          <p:nvPr/>
        </p:nvSpPr>
        <p:spPr>
          <a:xfrm>
            <a:off x="4828032" y="1490472"/>
            <a:ext cx="457200" cy="457200"/>
          </a:xfrm>
          <a:prstGeom prst="ellipse">
            <a:avLst/>
          </a:prstGeom>
          <a:solidFill>
            <a:schemeClr val="tx1"/>
          </a:solidFill>
          <a:ln/>
        </p:spPr>
      </p:sp>
      <p:sp>
        <p:nvSpPr>
          <p:cNvPr id="19" name="Design number"/>
          <p:cNvSpPr txBox="1"/>
          <p:nvPr/>
        </p:nvSpPr>
        <p:spPr>
          <a:xfrm>
            <a:off x="4828032" y="1490472"/>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3</a:t>
            </a:r>
            <a:endParaRPr lang="en-US" sz="1800" dirty="0"/>
          </a:p>
        </p:txBody>
      </p:sp>
      <p:sp>
        <p:nvSpPr>
          <p:cNvPr id="20" name="Design title"/>
          <p:cNvSpPr txBox="1"/>
          <p:nvPr/>
        </p:nvSpPr>
        <p:spPr>
          <a:xfrm>
            <a:off x="4828032" y="2020824"/>
            <a:ext cx="1591056" cy="329184"/>
          </a:xfrm>
          <a:prstGeom prst="rect">
            <a:avLst/>
          </a:prstGeom>
          <a:noFill/>
          <a:ln/>
        </p:spPr>
        <p:txBody>
          <a:bodyPr wrap="square" lIns="0" tIns="0" rIns="0" bIns="0" rtlCol="0" anchor="ctr"/>
          <a:lstStyle/>
          <a:p>
            <a:pPr indent="0" marL="0">
              <a:buNone/>
            </a:pPr>
            <a:r>
              <a:rPr lang="en-US" sz="1800" b="1" dirty="0">
                <a:solidFill>
                  <a:schemeClr val="tx1"/>
                </a:solidFill>
              </a:rPr>
              <a:t>Design</a:t>
            </a:r>
            <a:endParaRPr lang="en-US" sz="1800" dirty="0"/>
          </a:p>
        </p:txBody>
      </p:sp>
      <p:sp>
        <p:nvSpPr>
          <p:cNvPr id="21" name="Design purpose"/>
          <p:cNvSpPr txBox="1"/>
          <p:nvPr/>
        </p:nvSpPr>
        <p:spPr>
          <a:xfrm>
            <a:off x="4828032" y="2368296"/>
            <a:ext cx="1591056" cy="713232"/>
          </a:xfrm>
          <a:prstGeom prst="rect">
            <a:avLst/>
          </a:prstGeom>
          <a:noFill/>
          <a:ln/>
        </p:spPr>
        <p:txBody>
          <a:bodyPr wrap="square" lIns="0" tIns="0" rIns="0" bIns="0" rtlCol="0" anchor="t"/>
          <a:lstStyle/>
          <a:p>
            <a:pPr indent="0" marL="0">
              <a:buNone/>
            </a:pPr>
            <a:r>
              <a:rPr lang="en-US" sz="1400" dirty="0">
                <a:solidFill>
                  <a:schemeClr val="tx1"/>
                </a:solidFill>
              </a:rPr>
              <a:t>Decide how the feature will work.</a:t>
            </a:r>
            <a:endParaRPr lang="en-US" sz="1400" dirty="0"/>
          </a:p>
        </p:txBody>
      </p:sp>
      <p:sp>
        <p:nvSpPr>
          <p:cNvPr id="22" name="Design example box"/>
          <p:cNvSpPr/>
          <p:nvPr/>
        </p:nvSpPr>
        <p:spPr>
          <a:xfrm>
            <a:off x="4754880" y="3090672"/>
            <a:ext cx="1737360" cy="987552"/>
          </a:xfrm>
          <a:prstGeom prst="roundRect">
            <a:avLst>
              <a:gd name="adj" fmla="val 9259"/>
            </a:avLst>
          </a:prstGeom>
          <a:solidFill>
            <a:schemeClr val="bg1"/>
          </a:solidFill>
          <a:ln/>
        </p:spPr>
      </p:sp>
      <p:sp>
        <p:nvSpPr>
          <p:cNvPr id="23" name="Design example"/>
          <p:cNvSpPr txBox="1"/>
          <p:nvPr/>
        </p:nvSpPr>
        <p:spPr>
          <a:xfrm>
            <a:off x="4846320" y="3154680"/>
            <a:ext cx="1554480" cy="868680"/>
          </a:xfrm>
          <a:prstGeom prst="rect">
            <a:avLst/>
          </a:prstGeom>
          <a:noFill/>
          <a:ln/>
        </p:spPr>
        <p:txBody>
          <a:bodyPr wrap="square" lIns="0" tIns="0" rIns="0" bIns="0" rtlCol="0" anchor="t"/>
          <a:lstStyle/>
          <a:p>
            <a:pPr indent="0" marL="0">
              <a:buNone/>
            </a:pPr>
            <a:r>
              <a:rPr lang="en-US" sz="1100" b="1" dirty="0">
                <a:solidFill>
                  <a:schemeClr val="accent2"/>
                </a:solidFill>
              </a:rPr>
              <a:t>Example</a:t>
            </a:r>
            <a:endParaRPr lang="en-US" sz="1400" dirty="0"/>
          </a:p>
          <a:p>
            <a:pPr indent="0" marL="0">
              <a:buNone/>
            </a:pPr>
            <a:r>
              <a:rPr lang="en-US" sz="1400" dirty="0">
                <a:solidFill>
                  <a:schemeClr val="tx1"/>
                </a:solidFill>
              </a:rPr>
              <a:t>Plan the budget field and results display.</a:t>
            </a:r>
            <a:endParaRPr lang="en-US" sz="1400" dirty="0"/>
          </a:p>
        </p:txBody>
      </p:sp>
      <p:sp>
        <p:nvSpPr>
          <p:cNvPr id="24" name="Development card"/>
          <p:cNvSpPr/>
          <p:nvPr/>
        </p:nvSpPr>
        <p:spPr>
          <a:xfrm>
            <a:off x="6766560" y="1325880"/>
            <a:ext cx="1920240" cy="2852928"/>
          </a:xfrm>
          <a:prstGeom prst="roundRect">
            <a:avLst>
              <a:gd name="adj" fmla="val 4762"/>
            </a:avLst>
          </a:prstGeom>
          <a:solidFill>
            <a:schemeClr val="bg2"/>
          </a:solidFill>
          <a:ln/>
        </p:spPr>
      </p:sp>
      <p:sp>
        <p:nvSpPr>
          <p:cNvPr id="25" name="Development number circle"/>
          <p:cNvSpPr/>
          <p:nvPr/>
        </p:nvSpPr>
        <p:spPr>
          <a:xfrm>
            <a:off x="6931152" y="1490472"/>
            <a:ext cx="457200" cy="457200"/>
          </a:xfrm>
          <a:prstGeom prst="ellipse">
            <a:avLst/>
          </a:prstGeom>
          <a:solidFill>
            <a:schemeClr val="tx1"/>
          </a:solidFill>
          <a:ln/>
        </p:spPr>
      </p:sp>
      <p:sp>
        <p:nvSpPr>
          <p:cNvPr id="26" name="Development number"/>
          <p:cNvSpPr txBox="1"/>
          <p:nvPr/>
        </p:nvSpPr>
        <p:spPr>
          <a:xfrm>
            <a:off x="6931152" y="1490472"/>
            <a:ext cx="457200" cy="457200"/>
          </a:xfrm>
          <a:prstGeom prst="rect">
            <a:avLst/>
          </a:prstGeom>
          <a:noFill/>
          <a:ln/>
        </p:spPr>
        <p:txBody>
          <a:bodyPr wrap="square" lIns="0" tIns="0" rIns="0" bIns="0" rtlCol="0" anchor="ctr"/>
          <a:lstStyle/>
          <a:p>
            <a:pPr algn="ctr" indent="0" marL="0">
              <a:buNone/>
            </a:pPr>
            <a:r>
              <a:rPr lang="en-US" sz="1800" b="1" dirty="0">
                <a:solidFill>
                  <a:schemeClr val="accent1"/>
                </a:solidFill>
              </a:rPr>
              <a:t>4</a:t>
            </a:r>
            <a:endParaRPr lang="en-US" sz="1800" dirty="0"/>
          </a:p>
        </p:txBody>
      </p:sp>
      <p:sp>
        <p:nvSpPr>
          <p:cNvPr id="27" name="Development title"/>
          <p:cNvSpPr txBox="1"/>
          <p:nvPr/>
        </p:nvSpPr>
        <p:spPr>
          <a:xfrm>
            <a:off x="6931152" y="2020824"/>
            <a:ext cx="1591056" cy="329184"/>
          </a:xfrm>
          <a:prstGeom prst="rect">
            <a:avLst/>
          </a:prstGeom>
          <a:noFill/>
          <a:ln/>
        </p:spPr>
        <p:txBody>
          <a:bodyPr wrap="square" lIns="0" tIns="0" rIns="0" bIns="0" rtlCol="0" anchor="ctr"/>
          <a:lstStyle/>
          <a:p>
            <a:pPr indent="0" marL="0">
              <a:buNone/>
            </a:pPr>
            <a:r>
              <a:rPr lang="en-US" sz="1800" b="1" dirty="0">
                <a:solidFill>
                  <a:schemeClr val="tx1"/>
                </a:solidFill>
              </a:rPr>
              <a:t>Development</a:t>
            </a:r>
            <a:endParaRPr lang="en-US" sz="1800" dirty="0"/>
          </a:p>
        </p:txBody>
      </p:sp>
      <p:sp>
        <p:nvSpPr>
          <p:cNvPr id="28" name="Development purpose"/>
          <p:cNvSpPr txBox="1"/>
          <p:nvPr/>
        </p:nvSpPr>
        <p:spPr>
          <a:xfrm>
            <a:off x="6931152" y="2368296"/>
            <a:ext cx="1591056" cy="713232"/>
          </a:xfrm>
          <a:prstGeom prst="rect">
            <a:avLst/>
          </a:prstGeom>
          <a:noFill/>
          <a:ln/>
        </p:spPr>
        <p:txBody>
          <a:bodyPr wrap="square" lIns="0" tIns="0" rIns="0" bIns="0" rtlCol="0" anchor="t"/>
          <a:lstStyle/>
          <a:p>
            <a:pPr indent="0" marL="0">
              <a:buNone/>
            </a:pPr>
            <a:r>
              <a:rPr lang="en-US" sz="1400" dirty="0">
                <a:solidFill>
                  <a:schemeClr val="tx1"/>
                </a:solidFill>
              </a:rPr>
              <a:t>Implement a usable portion of the product.</a:t>
            </a:r>
            <a:endParaRPr lang="en-US" sz="1400" dirty="0"/>
          </a:p>
        </p:txBody>
      </p:sp>
      <p:sp>
        <p:nvSpPr>
          <p:cNvPr id="29" name="Development example box"/>
          <p:cNvSpPr/>
          <p:nvPr/>
        </p:nvSpPr>
        <p:spPr>
          <a:xfrm>
            <a:off x="6858000" y="3090672"/>
            <a:ext cx="1737360" cy="987552"/>
          </a:xfrm>
          <a:prstGeom prst="roundRect">
            <a:avLst>
              <a:gd name="adj" fmla="val 9259"/>
            </a:avLst>
          </a:prstGeom>
          <a:solidFill>
            <a:schemeClr val="bg1"/>
          </a:solidFill>
          <a:ln/>
        </p:spPr>
      </p:sp>
      <p:sp>
        <p:nvSpPr>
          <p:cNvPr id="30" name="Development example"/>
          <p:cNvSpPr txBox="1"/>
          <p:nvPr/>
        </p:nvSpPr>
        <p:spPr>
          <a:xfrm>
            <a:off x="6949440" y="3154680"/>
            <a:ext cx="1554480" cy="868680"/>
          </a:xfrm>
          <a:prstGeom prst="rect">
            <a:avLst/>
          </a:prstGeom>
          <a:noFill/>
          <a:ln/>
        </p:spPr>
        <p:txBody>
          <a:bodyPr wrap="square" lIns="0" tIns="0" rIns="0" bIns="0" rtlCol="0" anchor="t"/>
          <a:lstStyle/>
          <a:p>
            <a:pPr indent="0" marL="0">
              <a:buNone/>
            </a:pPr>
            <a:r>
              <a:rPr lang="en-US" sz="1100" b="1" dirty="0">
                <a:solidFill>
                  <a:schemeClr val="accent2"/>
                </a:solidFill>
              </a:rPr>
              <a:t>Example</a:t>
            </a:r>
            <a:endParaRPr lang="en-US" sz="1400" dirty="0"/>
          </a:p>
          <a:p>
            <a:pPr indent="0" marL="0">
              <a:buNone/>
            </a:pPr>
            <a:r>
              <a:rPr lang="en-US" sz="1400" dirty="0">
                <a:solidFill>
                  <a:schemeClr val="tx1"/>
                </a:solidFill>
              </a:rPr>
              <a:t>Build filtering behavior.</a:t>
            </a:r>
            <a:endParaRPr lang="en-US" sz="1400" dirty="0"/>
          </a:p>
        </p:txBody>
      </p:sp>
      <p:sp>
        <p:nvSpPr>
          <p:cNvPr id="31" name="takeaway"/>
          <p:cNvSpPr txBox="1"/>
          <p:nvPr/>
        </p:nvSpPr>
        <p:spPr>
          <a:xfrm>
            <a:off x="457200" y="4279392"/>
            <a:ext cx="8229600" cy="329184"/>
          </a:xfrm>
          <a:prstGeom prst="rect">
            <a:avLst/>
          </a:prstGeom>
          <a:noFill/>
          <a:ln/>
        </p:spPr>
        <p:txBody>
          <a:bodyPr wrap="square" lIns="0" tIns="0" rIns="0" bIns="0" rtlCol="0" anchor="ctr"/>
          <a:lstStyle/>
          <a:p>
            <a:pPr indent="0" marL="0">
              <a:buNone/>
            </a:pPr>
            <a:r>
              <a:rPr lang="en-US" sz="1600" b="1" dirty="0">
                <a:solidFill>
                  <a:schemeClr val="accent2"/>
                </a:solidFill>
              </a:rPr>
              <a:t>These phases recur and overlap as the team builds small increments.</a:t>
            </a:r>
            <a:endParaRPr lang="en-US" sz="1600" dirty="0"/>
          </a:p>
        </p:txBody>
      </p:sp>
      <p:sp>
        <p:nvSpPr>
          <p:cNvPr id="32"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r>
              <a:rPr lang="en-US" sz="1100" dirty="0">
                <a:solidFill>
                  <a:schemeClr val="accent5"/>
                </a:solidFill>
              </a:rPr>
              <a:t>(Jackson et al., n.d.)</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Testing, delivery, and maintenance</a:t>
            </a:r>
            <a:endParaRPr lang="en-US" sz="3200" dirty="0"/>
          </a:p>
        </p:txBody>
      </p:sp>
      <p:sp>
        <p:nvSpPr>
          <p:cNvPr id="3" name="purpose header"/>
          <p:cNvSpPr txBox="1"/>
          <p:nvPr/>
        </p:nvSpPr>
        <p:spPr>
          <a:xfrm>
            <a:off x="2606040" y="1298448"/>
            <a:ext cx="274320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PURPOSE</a:t>
            </a:r>
            <a:endParaRPr lang="en-US" sz="1100" dirty="0"/>
          </a:p>
        </p:txBody>
      </p:sp>
      <p:sp>
        <p:nvSpPr>
          <p:cNvPr id="4" name="example header"/>
          <p:cNvSpPr txBox="1"/>
          <p:nvPr/>
        </p:nvSpPr>
        <p:spPr>
          <a:xfrm>
            <a:off x="5806440" y="1298448"/>
            <a:ext cx="2834640" cy="228600"/>
          </a:xfrm>
          <a:prstGeom prst="rect">
            <a:avLst/>
          </a:prstGeom>
          <a:noFill/>
          <a:ln/>
        </p:spPr>
        <p:txBody>
          <a:bodyPr wrap="square" lIns="0" tIns="0" rIns="0" bIns="0" rtlCol="0" anchor="ctr"/>
          <a:lstStyle/>
          <a:p>
            <a:pPr indent="0" marL="0">
              <a:buNone/>
            </a:pPr>
            <a:r>
              <a:rPr lang="en-US" sz="1100" b="1" spc="200" kern="0" dirty="0">
                <a:solidFill>
                  <a:schemeClr val="accent5"/>
                </a:solidFill>
              </a:rPr>
              <a:t>TRAVEL APPLICATION EXAMPLE</a:t>
            </a:r>
            <a:endParaRPr lang="en-US" sz="1100" dirty="0"/>
          </a:p>
        </p:txBody>
      </p:sp>
      <p:sp>
        <p:nvSpPr>
          <p:cNvPr id="5" name="Testing row"/>
          <p:cNvSpPr/>
          <p:nvPr/>
        </p:nvSpPr>
        <p:spPr>
          <a:xfrm>
            <a:off x="457200" y="1600200"/>
            <a:ext cx="8229600" cy="777240"/>
          </a:xfrm>
          <a:prstGeom prst="roundRect">
            <a:avLst>
              <a:gd name="adj" fmla="val 11765"/>
            </a:avLst>
          </a:prstGeom>
          <a:solidFill>
            <a:schemeClr val="bg2"/>
          </a:solidFill>
          <a:ln/>
        </p:spPr>
      </p:sp>
      <p:sp>
        <p:nvSpPr>
          <p:cNvPr id="6" name="Testing label block"/>
          <p:cNvSpPr/>
          <p:nvPr/>
        </p:nvSpPr>
        <p:spPr>
          <a:xfrm>
            <a:off x="457200" y="1600200"/>
            <a:ext cx="1965960" cy="777240"/>
          </a:xfrm>
          <a:prstGeom prst="roundRect">
            <a:avLst>
              <a:gd name="adj" fmla="val 11765"/>
            </a:avLst>
          </a:prstGeom>
          <a:solidFill>
            <a:schemeClr val="tx1"/>
          </a:solidFill>
          <a:ln/>
        </p:spPr>
      </p:sp>
      <p:sp>
        <p:nvSpPr>
          <p:cNvPr id="7" name="Testing label"/>
          <p:cNvSpPr txBox="1"/>
          <p:nvPr/>
        </p:nvSpPr>
        <p:spPr>
          <a:xfrm>
            <a:off x="640080" y="1600200"/>
            <a:ext cx="1691640" cy="777240"/>
          </a:xfrm>
          <a:prstGeom prst="rect">
            <a:avLst/>
          </a:prstGeom>
          <a:noFill/>
          <a:ln/>
        </p:spPr>
        <p:txBody>
          <a:bodyPr wrap="square" lIns="0" tIns="0" rIns="0" bIns="0" rtlCol="0" anchor="ctr"/>
          <a:lstStyle/>
          <a:p>
            <a:pPr indent="0" marL="0">
              <a:buNone/>
            </a:pPr>
            <a:r>
              <a:rPr lang="en-US" sz="2000" b="1" dirty="0">
                <a:solidFill>
                  <a:schemeClr val="accent1"/>
                </a:solidFill>
              </a:rPr>
              <a:t>Testing</a:t>
            </a:r>
            <a:endParaRPr lang="en-US" sz="2000" dirty="0"/>
          </a:p>
        </p:txBody>
      </p:sp>
      <p:sp>
        <p:nvSpPr>
          <p:cNvPr id="8" name="Testing purpose"/>
          <p:cNvSpPr txBox="1"/>
          <p:nvPr/>
        </p:nvSpPr>
        <p:spPr>
          <a:xfrm>
            <a:off x="2606040" y="1600200"/>
            <a:ext cx="3017520" cy="777240"/>
          </a:xfrm>
          <a:prstGeom prst="rect">
            <a:avLst/>
          </a:prstGeom>
          <a:noFill/>
          <a:ln/>
        </p:spPr>
        <p:txBody>
          <a:bodyPr wrap="square" lIns="0" tIns="0" rIns="0" bIns="0" rtlCol="0" anchor="ctr"/>
          <a:lstStyle/>
          <a:p>
            <a:pPr indent="0" marL="0">
              <a:buNone/>
            </a:pPr>
            <a:r>
              <a:rPr lang="en-US" sz="1600" dirty="0">
                <a:solidFill>
                  <a:schemeClr val="tx1"/>
                </a:solidFill>
              </a:rPr>
              <a:t>Check requirements and find defects.</a:t>
            </a:r>
            <a:endParaRPr lang="en-US" sz="1600" dirty="0"/>
          </a:p>
        </p:txBody>
      </p:sp>
      <p:sp>
        <p:nvSpPr>
          <p:cNvPr id="9" name="Testing example box"/>
          <p:cNvSpPr/>
          <p:nvPr/>
        </p:nvSpPr>
        <p:spPr>
          <a:xfrm>
            <a:off x="5760720" y="1691640"/>
            <a:ext cx="2834640" cy="594360"/>
          </a:xfrm>
          <a:prstGeom prst="roundRect">
            <a:avLst>
              <a:gd name="adj" fmla="val 15385"/>
            </a:avLst>
          </a:prstGeom>
          <a:solidFill>
            <a:schemeClr val="bg1"/>
          </a:solidFill>
          <a:ln/>
        </p:spPr>
      </p:sp>
      <p:sp>
        <p:nvSpPr>
          <p:cNvPr id="10" name="Testing example"/>
          <p:cNvSpPr txBox="1"/>
          <p:nvPr/>
        </p:nvSpPr>
        <p:spPr>
          <a:xfrm>
            <a:off x="5870448" y="1691640"/>
            <a:ext cx="2615184" cy="594360"/>
          </a:xfrm>
          <a:prstGeom prst="rect">
            <a:avLst/>
          </a:prstGeom>
          <a:noFill/>
          <a:ln/>
        </p:spPr>
        <p:txBody>
          <a:bodyPr wrap="square" lIns="0" tIns="0" rIns="0" bIns="0" rtlCol="0" anchor="ctr"/>
          <a:lstStyle/>
          <a:p>
            <a:pPr indent="0" marL="0">
              <a:buNone/>
            </a:pPr>
            <a:r>
              <a:rPr lang="en-US" sz="1400" dirty="0">
                <a:solidFill>
                  <a:schemeClr val="tx1"/>
                </a:solidFill>
              </a:rPr>
              <a:t>Check prices below, at, and above the limit.</a:t>
            </a:r>
            <a:endParaRPr lang="en-US" sz="1400" dirty="0"/>
          </a:p>
        </p:txBody>
      </p:sp>
      <p:sp>
        <p:nvSpPr>
          <p:cNvPr id="11" name="Deployment row"/>
          <p:cNvSpPr/>
          <p:nvPr/>
        </p:nvSpPr>
        <p:spPr>
          <a:xfrm>
            <a:off x="457200" y="2487168"/>
            <a:ext cx="8229600" cy="777240"/>
          </a:xfrm>
          <a:prstGeom prst="roundRect">
            <a:avLst>
              <a:gd name="adj" fmla="val 11765"/>
            </a:avLst>
          </a:prstGeom>
          <a:solidFill>
            <a:schemeClr val="bg2"/>
          </a:solidFill>
          <a:ln/>
        </p:spPr>
      </p:sp>
      <p:sp>
        <p:nvSpPr>
          <p:cNvPr id="12" name="Deployment label block"/>
          <p:cNvSpPr/>
          <p:nvPr/>
        </p:nvSpPr>
        <p:spPr>
          <a:xfrm>
            <a:off x="457200" y="2487168"/>
            <a:ext cx="1965960" cy="777240"/>
          </a:xfrm>
          <a:prstGeom prst="roundRect">
            <a:avLst>
              <a:gd name="adj" fmla="val 11765"/>
            </a:avLst>
          </a:prstGeom>
          <a:solidFill>
            <a:schemeClr val="tx1"/>
          </a:solidFill>
          <a:ln/>
        </p:spPr>
      </p:sp>
      <p:sp>
        <p:nvSpPr>
          <p:cNvPr id="13" name="Deployment label"/>
          <p:cNvSpPr txBox="1"/>
          <p:nvPr/>
        </p:nvSpPr>
        <p:spPr>
          <a:xfrm>
            <a:off x="640080" y="2487168"/>
            <a:ext cx="1691640" cy="777240"/>
          </a:xfrm>
          <a:prstGeom prst="rect">
            <a:avLst/>
          </a:prstGeom>
          <a:noFill/>
          <a:ln/>
        </p:spPr>
        <p:txBody>
          <a:bodyPr wrap="square" lIns="0" tIns="0" rIns="0" bIns="0" rtlCol="0" anchor="ctr"/>
          <a:lstStyle/>
          <a:p>
            <a:pPr indent="0" marL="0">
              <a:buNone/>
            </a:pPr>
            <a:r>
              <a:rPr lang="en-US" sz="2000" b="1" dirty="0">
                <a:solidFill>
                  <a:schemeClr val="accent1"/>
                </a:solidFill>
              </a:rPr>
              <a:t>Deployment</a:t>
            </a:r>
            <a:endParaRPr lang="en-US" sz="2000" dirty="0"/>
          </a:p>
        </p:txBody>
      </p:sp>
      <p:sp>
        <p:nvSpPr>
          <p:cNvPr id="14" name="Deployment purpose"/>
          <p:cNvSpPr txBox="1"/>
          <p:nvPr/>
        </p:nvSpPr>
        <p:spPr>
          <a:xfrm>
            <a:off x="2606040" y="2487168"/>
            <a:ext cx="3017520" cy="777240"/>
          </a:xfrm>
          <a:prstGeom prst="rect">
            <a:avLst/>
          </a:prstGeom>
          <a:noFill/>
          <a:ln/>
        </p:spPr>
        <p:txBody>
          <a:bodyPr wrap="square" lIns="0" tIns="0" rIns="0" bIns="0" rtlCol="0" anchor="ctr"/>
          <a:lstStyle/>
          <a:p>
            <a:pPr indent="0" marL="0">
              <a:buNone/>
            </a:pPr>
            <a:r>
              <a:rPr lang="en-US" sz="1600" dirty="0">
                <a:solidFill>
                  <a:schemeClr val="tx1"/>
                </a:solidFill>
              </a:rPr>
              <a:t>Make a verified version available.</a:t>
            </a:r>
            <a:endParaRPr lang="en-US" sz="1600" dirty="0"/>
          </a:p>
        </p:txBody>
      </p:sp>
      <p:sp>
        <p:nvSpPr>
          <p:cNvPr id="15" name="Deployment example box"/>
          <p:cNvSpPr/>
          <p:nvPr/>
        </p:nvSpPr>
        <p:spPr>
          <a:xfrm>
            <a:off x="5760720" y="2578608"/>
            <a:ext cx="2834640" cy="594360"/>
          </a:xfrm>
          <a:prstGeom prst="roundRect">
            <a:avLst>
              <a:gd name="adj" fmla="val 15385"/>
            </a:avLst>
          </a:prstGeom>
          <a:solidFill>
            <a:schemeClr val="bg1"/>
          </a:solidFill>
          <a:ln/>
        </p:spPr>
      </p:sp>
      <p:sp>
        <p:nvSpPr>
          <p:cNvPr id="16" name="Deployment example"/>
          <p:cNvSpPr txBox="1"/>
          <p:nvPr/>
        </p:nvSpPr>
        <p:spPr>
          <a:xfrm>
            <a:off x="5870448" y="2578608"/>
            <a:ext cx="2615184" cy="594360"/>
          </a:xfrm>
          <a:prstGeom prst="rect">
            <a:avLst/>
          </a:prstGeom>
          <a:noFill/>
          <a:ln/>
        </p:spPr>
        <p:txBody>
          <a:bodyPr wrap="square" lIns="0" tIns="0" rIns="0" bIns="0" rtlCol="0" anchor="ctr"/>
          <a:lstStyle/>
          <a:p>
            <a:pPr indent="0" marL="0">
              <a:buNone/>
            </a:pPr>
            <a:r>
              <a:rPr lang="en-US" sz="1400" dirty="0">
                <a:solidFill>
                  <a:schemeClr val="tx1"/>
                </a:solidFill>
              </a:rPr>
              <a:t>Export the application and verify that it opens.</a:t>
            </a:r>
            <a:endParaRPr lang="en-US" sz="1400" dirty="0"/>
          </a:p>
        </p:txBody>
      </p:sp>
      <p:sp>
        <p:nvSpPr>
          <p:cNvPr id="17" name="Maintenance row"/>
          <p:cNvSpPr/>
          <p:nvPr/>
        </p:nvSpPr>
        <p:spPr>
          <a:xfrm>
            <a:off x="457200" y="3374136"/>
            <a:ext cx="8229600" cy="777240"/>
          </a:xfrm>
          <a:prstGeom prst="roundRect">
            <a:avLst>
              <a:gd name="adj" fmla="val 11765"/>
            </a:avLst>
          </a:prstGeom>
          <a:solidFill>
            <a:schemeClr val="bg2"/>
          </a:solidFill>
          <a:ln/>
        </p:spPr>
      </p:sp>
      <p:sp>
        <p:nvSpPr>
          <p:cNvPr id="18" name="Maintenance label block"/>
          <p:cNvSpPr/>
          <p:nvPr/>
        </p:nvSpPr>
        <p:spPr>
          <a:xfrm>
            <a:off x="457200" y="3374136"/>
            <a:ext cx="1965960" cy="777240"/>
          </a:xfrm>
          <a:prstGeom prst="roundRect">
            <a:avLst>
              <a:gd name="adj" fmla="val 11765"/>
            </a:avLst>
          </a:prstGeom>
          <a:solidFill>
            <a:schemeClr val="tx1"/>
          </a:solidFill>
          <a:ln/>
        </p:spPr>
      </p:sp>
      <p:sp>
        <p:nvSpPr>
          <p:cNvPr id="19" name="Maintenance label"/>
          <p:cNvSpPr txBox="1"/>
          <p:nvPr/>
        </p:nvSpPr>
        <p:spPr>
          <a:xfrm>
            <a:off x="640080" y="3374136"/>
            <a:ext cx="1691640" cy="777240"/>
          </a:xfrm>
          <a:prstGeom prst="rect">
            <a:avLst/>
          </a:prstGeom>
          <a:noFill/>
          <a:ln/>
        </p:spPr>
        <p:txBody>
          <a:bodyPr wrap="square" lIns="0" tIns="0" rIns="0" bIns="0" rtlCol="0" anchor="ctr"/>
          <a:lstStyle/>
          <a:p>
            <a:pPr indent="0" marL="0">
              <a:buNone/>
            </a:pPr>
            <a:r>
              <a:rPr lang="en-US" sz="2000" b="1" dirty="0">
                <a:solidFill>
                  <a:schemeClr val="accent1"/>
                </a:solidFill>
              </a:rPr>
              <a:t>Maintenance</a:t>
            </a:r>
            <a:endParaRPr lang="en-US" sz="2000" dirty="0"/>
          </a:p>
        </p:txBody>
      </p:sp>
      <p:sp>
        <p:nvSpPr>
          <p:cNvPr id="20" name="Maintenance purpose"/>
          <p:cNvSpPr txBox="1"/>
          <p:nvPr/>
        </p:nvSpPr>
        <p:spPr>
          <a:xfrm>
            <a:off x="2606040" y="3374136"/>
            <a:ext cx="3017520" cy="777240"/>
          </a:xfrm>
          <a:prstGeom prst="rect">
            <a:avLst/>
          </a:prstGeom>
          <a:noFill/>
          <a:ln/>
        </p:spPr>
        <p:txBody>
          <a:bodyPr wrap="square" lIns="0" tIns="0" rIns="0" bIns="0" rtlCol="0" anchor="ctr"/>
          <a:lstStyle/>
          <a:p>
            <a:pPr indent="0" marL="0">
              <a:buNone/>
            </a:pPr>
            <a:r>
              <a:rPr lang="en-US" sz="1600" dirty="0">
                <a:solidFill>
                  <a:schemeClr val="tx1"/>
                </a:solidFill>
              </a:rPr>
              <a:t>Correct issues and respond to feedback.</a:t>
            </a:r>
            <a:endParaRPr lang="en-US" sz="1600" dirty="0"/>
          </a:p>
        </p:txBody>
      </p:sp>
      <p:sp>
        <p:nvSpPr>
          <p:cNvPr id="21" name="Maintenance example box"/>
          <p:cNvSpPr/>
          <p:nvPr/>
        </p:nvSpPr>
        <p:spPr>
          <a:xfrm>
            <a:off x="5760720" y="3465576"/>
            <a:ext cx="2834640" cy="594360"/>
          </a:xfrm>
          <a:prstGeom prst="roundRect">
            <a:avLst>
              <a:gd name="adj" fmla="val 15385"/>
            </a:avLst>
          </a:prstGeom>
          <a:solidFill>
            <a:schemeClr val="bg1"/>
          </a:solidFill>
          <a:ln/>
        </p:spPr>
      </p:sp>
      <p:sp>
        <p:nvSpPr>
          <p:cNvPr id="22" name="Maintenance example"/>
          <p:cNvSpPr txBox="1"/>
          <p:nvPr/>
        </p:nvSpPr>
        <p:spPr>
          <a:xfrm>
            <a:off x="5870448" y="3465576"/>
            <a:ext cx="2615184" cy="594360"/>
          </a:xfrm>
          <a:prstGeom prst="rect">
            <a:avLst/>
          </a:prstGeom>
          <a:noFill/>
          <a:ln/>
        </p:spPr>
        <p:txBody>
          <a:bodyPr wrap="square" lIns="0" tIns="0" rIns="0" bIns="0" rtlCol="0" anchor="ctr"/>
          <a:lstStyle/>
          <a:p>
            <a:pPr indent="0" marL="0">
              <a:buNone/>
            </a:pPr>
            <a:r>
              <a:rPr lang="en-US" sz="1400" dirty="0">
                <a:solidFill>
                  <a:schemeClr val="tx1"/>
                </a:solidFill>
              </a:rPr>
              <a:t>Fix a defect and refine future travel filters.</a:t>
            </a:r>
            <a:endParaRPr lang="en-US" sz="1400" dirty="0"/>
          </a:p>
        </p:txBody>
      </p:sp>
      <p:sp>
        <p:nvSpPr>
          <p:cNvPr id="23" name="takeaway"/>
          <p:cNvSpPr txBox="1"/>
          <p:nvPr/>
        </p:nvSpPr>
        <p:spPr>
          <a:xfrm>
            <a:off x="457200" y="4297680"/>
            <a:ext cx="8229600" cy="310896"/>
          </a:xfrm>
          <a:prstGeom prst="rect">
            <a:avLst/>
          </a:prstGeom>
          <a:noFill/>
          <a:ln/>
        </p:spPr>
        <p:txBody>
          <a:bodyPr wrap="square" lIns="0" tIns="0" rIns="0" bIns="0" rtlCol="0" anchor="ctr"/>
          <a:lstStyle/>
          <a:p>
            <a:pPr indent="0" marL="0">
              <a:buNone/>
            </a:pPr>
            <a:r>
              <a:rPr lang="en-US" sz="1600" b="1" dirty="0">
                <a:solidFill>
                  <a:schemeClr val="accent2"/>
                </a:solidFill>
              </a:rPr>
              <a:t>Testing continues as features develop. Feedback informs later work.</a:t>
            </a:r>
            <a:endParaRPr lang="en-US" sz="1600" dirty="0"/>
          </a:p>
        </p:txBody>
      </p:sp>
      <p:sp>
        <p:nvSpPr>
          <p:cNvPr id="24"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r>
              <a:rPr lang="en-US" sz="1100" dirty="0">
                <a:solidFill>
                  <a:schemeClr val="accent5"/>
                </a:solidFill>
              </a:rPr>
              <a:t>(Jackson et al., n.d.)</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Scrum events support inspection and change</a:t>
            </a:r>
            <a:endParaRPr lang="en-US" sz="3200" dirty="0"/>
          </a:p>
        </p:txBody>
      </p:sp>
      <p:sp>
        <p:nvSpPr>
          <p:cNvPr id="3" name="Sprint Planning card"/>
          <p:cNvSpPr/>
          <p:nvPr/>
        </p:nvSpPr>
        <p:spPr>
          <a:xfrm>
            <a:off x="457200" y="1280160"/>
            <a:ext cx="4023360" cy="1463040"/>
          </a:xfrm>
          <a:prstGeom prst="roundRect">
            <a:avLst>
              <a:gd name="adj" fmla="val 6250"/>
            </a:avLst>
          </a:prstGeom>
          <a:solidFill>
            <a:schemeClr val="bg2"/>
          </a:solidFill>
          <a:ln/>
        </p:spPr>
      </p:sp>
      <p:sp>
        <p:nvSpPr>
          <p:cNvPr id="4" name="Sprint Planning circle"/>
          <p:cNvSpPr/>
          <p:nvPr/>
        </p:nvSpPr>
        <p:spPr>
          <a:xfrm>
            <a:off x="640080" y="1463040"/>
            <a:ext cx="502920" cy="502920"/>
          </a:xfrm>
          <a:prstGeom prst="ellipse">
            <a:avLst/>
          </a:prstGeom>
          <a:solidFill>
            <a:schemeClr val="tx1"/>
          </a:solidFill>
          <a:ln/>
        </p:spPr>
      </p:sp>
      <p:pic>
        <p:nvPicPr>
          <p:cNvPr id="5" name="Sprint Planning icon" descr="preencoded.png">    </p:cNvPr>
          <p:cNvPicPr>
            <a:picLocks noChangeAspect="1"/>
          </p:cNvPicPr>
          <p:nvPr/>
        </p:nvPicPr>
        <p:blipFill>
          <a:blip r:embed="rId1"/>
          <a:stretch>
            <a:fillRect/>
          </a:stretch>
        </p:blipFill>
        <p:spPr>
          <a:xfrm>
            <a:off x="770839" y="1593799"/>
            <a:ext cx="241402" cy="241402"/>
          </a:xfrm>
          <a:prstGeom prst="rect">
            <a:avLst/>
          </a:prstGeom>
        </p:spPr>
      </p:pic>
      <p:sp>
        <p:nvSpPr>
          <p:cNvPr id="6" name="Sprint Planning title"/>
          <p:cNvSpPr txBox="1"/>
          <p:nvPr/>
        </p:nvSpPr>
        <p:spPr>
          <a:xfrm>
            <a:off x="1325880" y="1408176"/>
            <a:ext cx="2971800" cy="329184"/>
          </a:xfrm>
          <a:prstGeom prst="rect">
            <a:avLst/>
          </a:prstGeom>
          <a:noFill/>
          <a:ln/>
        </p:spPr>
        <p:txBody>
          <a:bodyPr wrap="square" lIns="0" tIns="0" rIns="0" bIns="0" rtlCol="0" anchor="ctr"/>
          <a:lstStyle/>
          <a:p>
            <a:pPr indent="0" marL="0">
              <a:buNone/>
            </a:pPr>
            <a:r>
              <a:rPr lang="en-US" sz="1800" b="1" dirty="0">
                <a:solidFill>
                  <a:schemeClr val="tx1"/>
                </a:solidFill>
              </a:rPr>
              <a:t>Sprint Planning</a:t>
            </a:r>
            <a:endParaRPr lang="en-US" sz="1800" dirty="0"/>
          </a:p>
        </p:txBody>
      </p:sp>
      <p:sp>
        <p:nvSpPr>
          <p:cNvPr id="7" name="Sprint Planning purpose"/>
          <p:cNvSpPr txBox="1"/>
          <p:nvPr/>
        </p:nvSpPr>
        <p:spPr>
          <a:xfrm>
            <a:off x="1325880" y="1773936"/>
            <a:ext cx="2971800" cy="310896"/>
          </a:xfrm>
          <a:prstGeom prst="rect">
            <a:avLst/>
          </a:prstGeom>
          <a:noFill/>
          <a:ln/>
        </p:spPr>
        <p:txBody>
          <a:bodyPr wrap="square" lIns="0" tIns="0" rIns="0" bIns="0" rtlCol="0" anchor="ctr"/>
          <a:lstStyle/>
          <a:p>
            <a:pPr indent="0" marL="0">
              <a:buNone/>
            </a:pPr>
            <a:r>
              <a:rPr lang="en-US" sz="1400" dirty="0">
                <a:solidFill>
                  <a:schemeClr val="tx1"/>
                </a:solidFill>
              </a:rPr>
              <a:t>Agree on a goal and plan.</a:t>
            </a:r>
            <a:endParaRPr lang="en-US" sz="1400" dirty="0"/>
          </a:p>
        </p:txBody>
      </p:sp>
      <p:sp>
        <p:nvSpPr>
          <p:cNvPr id="8" name="Sprint Planning example"/>
          <p:cNvSpPr txBox="1"/>
          <p:nvPr/>
        </p:nvSpPr>
        <p:spPr>
          <a:xfrm>
            <a:off x="1325880" y="2139696"/>
            <a:ext cx="2971800" cy="475488"/>
          </a:xfrm>
          <a:prstGeom prst="rect">
            <a:avLst/>
          </a:prstGeom>
          <a:noFill/>
          <a:ln/>
        </p:spPr>
        <p:txBody>
          <a:bodyPr wrap="square" lIns="0" tIns="0" rIns="0" bIns="0" rtlCol="0" anchor="t"/>
          <a:lstStyle/>
          <a:p>
            <a:pPr indent="0" marL="0">
              <a:buNone/>
            </a:pPr>
            <a:r>
              <a:rPr lang="en-US" sz="1400" b="1" dirty="0">
                <a:solidFill>
                  <a:schemeClr val="accent2"/>
                </a:solidFill>
              </a:rPr>
              <a:t>Example: </a:t>
            </a:r>
            <a:pPr indent="0" marL="0">
              <a:buNone/>
            </a:pPr>
            <a:r>
              <a:rPr lang="en-US" sz="1400" dirty="0">
                <a:solidFill>
                  <a:schemeClr val="accent2"/>
                </a:solidFill>
              </a:rPr>
              <a:t>Select a manageable budget-filter story.</a:t>
            </a:r>
            <a:endParaRPr lang="en-US" sz="1400" dirty="0"/>
          </a:p>
        </p:txBody>
      </p:sp>
      <p:sp>
        <p:nvSpPr>
          <p:cNvPr id="9" name="Daily Scrum card"/>
          <p:cNvSpPr/>
          <p:nvPr/>
        </p:nvSpPr>
        <p:spPr>
          <a:xfrm>
            <a:off x="4663440" y="1280160"/>
            <a:ext cx="4023360" cy="1463040"/>
          </a:xfrm>
          <a:prstGeom prst="roundRect">
            <a:avLst>
              <a:gd name="adj" fmla="val 6250"/>
            </a:avLst>
          </a:prstGeom>
          <a:solidFill>
            <a:schemeClr val="bg2"/>
          </a:solidFill>
          <a:ln/>
        </p:spPr>
      </p:sp>
      <p:sp>
        <p:nvSpPr>
          <p:cNvPr id="10" name="Daily Scrum circle"/>
          <p:cNvSpPr/>
          <p:nvPr/>
        </p:nvSpPr>
        <p:spPr>
          <a:xfrm>
            <a:off x="4846320" y="1463040"/>
            <a:ext cx="502920" cy="502920"/>
          </a:xfrm>
          <a:prstGeom prst="ellipse">
            <a:avLst/>
          </a:prstGeom>
          <a:solidFill>
            <a:schemeClr val="tx1"/>
          </a:solidFill>
          <a:ln/>
        </p:spPr>
      </p:sp>
      <p:pic>
        <p:nvPicPr>
          <p:cNvPr id="11" name="Daily Scrum icon" descr="preencoded.png">    </p:cNvPr>
          <p:cNvPicPr>
            <a:picLocks noChangeAspect="1"/>
          </p:cNvPicPr>
          <p:nvPr/>
        </p:nvPicPr>
        <p:blipFill>
          <a:blip r:embed="rId2"/>
          <a:stretch>
            <a:fillRect/>
          </a:stretch>
        </p:blipFill>
        <p:spPr>
          <a:xfrm>
            <a:off x="4977079" y="1593799"/>
            <a:ext cx="241402" cy="241402"/>
          </a:xfrm>
          <a:prstGeom prst="rect">
            <a:avLst/>
          </a:prstGeom>
        </p:spPr>
      </p:pic>
      <p:sp>
        <p:nvSpPr>
          <p:cNvPr id="12" name="Daily Scrum title"/>
          <p:cNvSpPr txBox="1"/>
          <p:nvPr/>
        </p:nvSpPr>
        <p:spPr>
          <a:xfrm>
            <a:off x="5532120" y="1408176"/>
            <a:ext cx="2971800" cy="329184"/>
          </a:xfrm>
          <a:prstGeom prst="rect">
            <a:avLst/>
          </a:prstGeom>
          <a:noFill/>
          <a:ln/>
        </p:spPr>
        <p:txBody>
          <a:bodyPr wrap="square" lIns="0" tIns="0" rIns="0" bIns="0" rtlCol="0" anchor="ctr"/>
          <a:lstStyle/>
          <a:p>
            <a:pPr indent="0" marL="0">
              <a:buNone/>
            </a:pPr>
            <a:r>
              <a:rPr lang="en-US" sz="1800" b="1" dirty="0">
                <a:solidFill>
                  <a:schemeClr val="tx1"/>
                </a:solidFill>
              </a:rPr>
              <a:t>Daily Scrum</a:t>
            </a:r>
            <a:endParaRPr lang="en-US" sz="1800" dirty="0"/>
          </a:p>
        </p:txBody>
      </p:sp>
      <p:sp>
        <p:nvSpPr>
          <p:cNvPr id="13" name="Daily Scrum purpose"/>
          <p:cNvSpPr txBox="1"/>
          <p:nvPr/>
        </p:nvSpPr>
        <p:spPr>
          <a:xfrm>
            <a:off x="5532120" y="1773936"/>
            <a:ext cx="2971800" cy="310896"/>
          </a:xfrm>
          <a:prstGeom prst="rect">
            <a:avLst/>
          </a:prstGeom>
          <a:noFill/>
          <a:ln/>
        </p:spPr>
        <p:txBody>
          <a:bodyPr wrap="square" lIns="0" tIns="0" rIns="0" bIns="0" rtlCol="0" anchor="ctr"/>
          <a:lstStyle/>
          <a:p>
            <a:pPr indent="0" marL="0">
              <a:buNone/>
            </a:pPr>
            <a:r>
              <a:rPr lang="en-US" sz="1400" dirty="0">
                <a:solidFill>
                  <a:schemeClr val="tx1"/>
                </a:solidFill>
              </a:rPr>
              <a:t>Inspect progress and adapt the plan.</a:t>
            </a:r>
            <a:endParaRPr lang="en-US" sz="1400" dirty="0"/>
          </a:p>
        </p:txBody>
      </p:sp>
      <p:sp>
        <p:nvSpPr>
          <p:cNvPr id="14" name="Daily Scrum example"/>
          <p:cNvSpPr txBox="1"/>
          <p:nvPr/>
        </p:nvSpPr>
        <p:spPr>
          <a:xfrm>
            <a:off x="5532120" y="2139696"/>
            <a:ext cx="2971800" cy="475488"/>
          </a:xfrm>
          <a:prstGeom prst="rect">
            <a:avLst/>
          </a:prstGeom>
          <a:noFill/>
          <a:ln/>
        </p:spPr>
        <p:txBody>
          <a:bodyPr wrap="square" lIns="0" tIns="0" rIns="0" bIns="0" rtlCol="0" anchor="t"/>
          <a:lstStyle/>
          <a:p>
            <a:pPr indent="0" marL="0">
              <a:buNone/>
            </a:pPr>
            <a:r>
              <a:rPr lang="en-US" sz="1400" b="1" dirty="0">
                <a:solidFill>
                  <a:schemeClr val="accent2"/>
                </a:solidFill>
              </a:rPr>
              <a:t>Example: </a:t>
            </a:r>
            <a:pPr indent="0" marL="0">
              <a:buNone/>
            </a:pPr>
            <a:r>
              <a:rPr lang="en-US" sz="1400" dirty="0">
                <a:solidFill>
                  <a:schemeClr val="accent2"/>
                </a:solidFill>
              </a:rPr>
              <a:t>Adjust work around a packaging blocker.</a:t>
            </a:r>
            <a:endParaRPr lang="en-US" sz="1400" dirty="0"/>
          </a:p>
        </p:txBody>
      </p:sp>
      <p:sp>
        <p:nvSpPr>
          <p:cNvPr id="15" name="Sprint Review card"/>
          <p:cNvSpPr/>
          <p:nvPr/>
        </p:nvSpPr>
        <p:spPr>
          <a:xfrm>
            <a:off x="457200" y="2834640"/>
            <a:ext cx="4023360" cy="1463040"/>
          </a:xfrm>
          <a:prstGeom prst="roundRect">
            <a:avLst>
              <a:gd name="adj" fmla="val 6250"/>
            </a:avLst>
          </a:prstGeom>
          <a:solidFill>
            <a:schemeClr val="bg2"/>
          </a:solidFill>
          <a:ln/>
        </p:spPr>
      </p:sp>
      <p:sp>
        <p:nvSpPr>
          <p:cNvPr id="16" name="Sprint Review circle"/>
          <p:cNvSpPr/>
          <p:nvPr/>
        </p:nvSpPr>
        <p:spPr>
          <a:xfrm>
            <a:off x="640080" y="3017520"/>
            <a:ext cx="502920" cy="502920"/>
          </a:xfrm>
          <a:prstGeom prst="ellipse">
            <a:avLst/>
          </a:prstGeom>
          <a:solidFill>
            <a:schemeClr val="tx1"/>
          </a:solidFill>
          <a:ln/>
        </p:spPr>
      </p:sp>
      <p:pic>
        <p:nvPicPr>
          <p:cNvPr id="17" name="Sprint Review icon" descr="preencoded.png">    </p:cNvPr>
          <p:cNvPicPr>
            <a:picLocks noChangeAspect="1"/>
          </p:cNvPicPr>
          <p:nvPr/>
        </p:nvPicPr>
        <p:blipFill>
          <a:blip r:embed="rId3"/>
          <a:stretch>
            <a:fillRect/>
          </a:stretch>
        </p:blipFill>
        <p:spPr>
          <a:xfrm>
            <a:off x="770839" y="3148279"/>
            <a:ext cx="241402" cy="241402"/>
          </a:xfrm>
          <a:prstGeom prst="rect">
            <a:avLst/>
          </a:prstGeom>
        </p:spPr>
      </p:pic>
      <p:sp>
        <p:nvSpPr>
          <p:cNvPr id="18" name="Sprint Review title"/>
          <p:cNvSpPr txBox="1"/>
          <p:nvPr/>
        </p:nvSpPr>
        <p:spPr>
          <a:xfrm>
            <a:off x="1325880" y="2962656"/>
            <a:ext cx="2971800" cy="329184"/>
          </a:xfrm>
          <a:prstGeom prst="rect">
            <a:avLst/>
          </a:prstGeom>
          <a:noFill/>
          <a:ln/>
        </p:spPr>
        <p:txBody>
          <a:bodyPr wrap="square" lIns="0" tIns="0" rIns="0" bIns="0" rtlCol="0" anchor="ctr"/>
          <a:lstStyle/>
          <a:p>
            <a:pPr indent="0" marL="0">
              <a:buNone/>
            </a:pPr>
            <a:r>
              <a:rPr lang="en-US" sz="1800" b="1" dirty="0">
                <a:solidFill>
                  <a:schemeClr val="tx1"/>
                </a:solidFill>
              </a:rPr>
              <a:t>Sprint Review</a:t>
            </a:r>
            <a:endParaRPr lang="en-US" sz="1800" dirty="0"/>
          </a:p>
        </p:txBody>
      </p:sp>
      <p:sp>
        <p:nvSpPr>
          <p:cNvPr id="19" name="Sprint Review purpose"/>
          <p:cNvSpPr txBox="1"/>
          <p:nvPr/>
        </p:nvSpPr>
        <p:spPr>
          <a:xfrm>
            <a:off x="1325880" y="3328416"/>
            <a:ext cx="2971800" cy="310896"/>
          </a:xfrm>
          <a:prstGeom prst="rect">
            <a:avLst/>
          </a:prstGeom>
          <a:noFill/>
          <a:ln/>
        </p:spPr>
        <p:txBody>
          <a:bodyPr wrap="square" lIns="0" tIns="0" rIns="0" bIns="0" rtlCol="0" anchor="ctr"/>
          <a:lstStyle/>
          <a:p>
            <a:pPr indent="0" marL="0">
              <a:buNone/>
            </a:pPr>
            <a:r>
              <a:rPr lang="en-US" sz="1400" dirty="0">
                <a:solidFill>
                  <a:schemeClr val="tx1"/>
                </a:solidFill>
              </a:rPr>
              <a:t>Inspect results with stakeholders.</a:t>
            </a:r>
            <a:endParaRPr lang="en-US" sz="1400" dirty="0"/>
          </a:p>
        </p:txBody>
      </p:sp>
      <p:sp>
        <p:nvSpPr>
          <p:cNvPr id="20" name="Sprint Review example"/>
          <p:cNvSpPr txBox="1"/>
          <p:nvPr/>
        </p:nvSpPr>
        <p:spPr>
          <a:xfrm>
            <a:off x="1325880" y="3694176"/>
            <a:ext cx="2971800" cy="475488"/>
          </a:xfrm>
          <a:prstGeom prst="rect">
            <a:avLst/>
          </a:prstGeom>
          <a:noFill/>
          <a:ln/>
        </p:spPr>
        <p:txBody>
          <a:bodyPr wrap="square" lIns="0" tIns="0" rIns="0" bIns="0" rtlCol="0" anchor="t"/>
          <a:lstStyle/>
          <a:p>
            <a:pPr indent="0" marL="0">
              <a:buNone/>
            </a:pPr>
            <a:r>
              <a:rPr lang="en-US" sz="1400" b="1" dirty="0">
                <a:solidFill>
                  <a:schemeClr val="accent2"/>
                </a:solidFill>
              </a:rPr>
              <a:t>Example: </a:t>
            </a:r>
            <a:pPr indent="0" marL="0">
              <a:buNone/>
            </a:pPr>
            <a:r>
              <a:rPr lang="en-US" sz="1400" dirty="0">
                <a:solidFill>
                  <a:schemeClr val="accent2"/>
                </a:solidFill>
              </a:rPr>
              <a:t>Discuss whether shown trips meet user needs.</a:t>
            </a:r>
            <a:endParaRPr lang="en-US" sz="1400" dirty="0"/>
          </a:p>
        </p:txBody>
      </p:sp>
      <p:sp>
        <p:nvSpPr>
          <p:cNvPr id="21" name="Sprint Retrospective card"/>
          <p:cNvSpPr/>
          <p:nvPr/>
        </p:nvSpPr>
        <p:spPr>
          <a:xfrm>
            <a:off x="4663440" y="2834640"/>
            <a:ext cx="4023360" cy="1463040"/>
          </a:xfrm>
          <a:prstGeom prst="roundRect">
            <a:avLst>
              <a:gd name="adj" fmla="val 6250"/>
            </a:avLst>
          </a:prstGeom>
          <a:solidFill>
            <a:schemeClr val="bg2"/>
          </a:solidFill>
          <a:ln/>
        </p:spPr>
      </p:sp>
      <p:sp>
        <p:nvSpPr>
          <p:cNvPr id="22" name="Sprint Retrospective circle"/>
          <p:cNvSpPr/>
          <p:nvPr/>
        </p:nvSpPr>
        <p:spPr>
          <a:xfrm>
            <a:off x="4846320" y="3017520"/>
            <a:ext cx="502920" cy="502920"/>
          </a:xfrm>
          <a:prstGeom prst="ellipse">
            <a:avLst/>
          </a:prstGeom>
          <a:solidFill>
            <a:schemeClr val="tx1"/>
          </a:solidFill>
          <a:ln/>
        </p:spPr>
      </p:sp>
      <p:pic>
        <p:nvPicPr>
          <p:cNvPr id="23" name="Sprint Retrospective icon" descr="preencoded.png">    </p:cNvPr>
          <p:cNvPicPr>
            <a:picLocks noChangeAspect="1"/>
          </p:cNvPicPr>
          <p:nvPr/>
        </p:nvPicPr>
        <p:blipFill>
          <a:blip r:embed="rId4"/>
          <a:stretch>
            <a:fillRect/>
          </a:stretch>
        </p:blipFill>
        <p:spPr>
          <a:xfrm>
            <a:off x="4977079" y="3148279"/>
            <a:ext cx="241402" cy="241402"/>
          </a:xfrm>
          <a:prstGeom prst="rect">
            <a:avLst/>
          </a:prstGeom>
        </p:spPr>
      </p:pic>
      <p:sp>
        <p:nvSpPr>
          <p:cNvPr id="24" name="Sprint Retrospective title"/>
          <p:cNvSpPr txBox="1"/>
          <p:nvPr/>
        </p:nvSpPr>
        <p:spPr>
          <a:xfrm>
            <a:off x="5532120" y="2962656"/>
            <a:ext cx="2971800" cy="329184"/>
          </a:xfrm>
          <a:prstGeom prst="rect">
            <a:avLst/>
          </a:prstGeom>
          <a:noFill/>
          <a:ln/>
        </p:spPr>
        <p:txBody>
          <a:bodyPr wrap="square" lIns="0" tIns="0" rIns="0" bIns="0" rtlCol="0" anchor="ctr"/>
          <a:lstStyle/>
          <a:p>
            <a:pPr indent="0" marL="0">
              <a:buNone/>
            </a:pPr>
            <a:r>
              <a:rPr lang="en-US" sz="1800" b="1" dirty="0">
                <a:solidFill>
                  <a:schemeClr val="tx1"/>
                </a:solidFill>
              </a:rPr>
              <a:t>Sprint Retrospective</a:t>
            </a:r>
            <a:endParaRPr lang="en-US" sz="1800" dirty="0"/>
          </a:p>
        </p:txBody>
      </p:sp>
      <p:sp>
        <p:nvSpPr>
          <p:cNvPr id="25" name="Sprint Retrospective purpose"/>
          <p:cNvSpPr txBox="1"/>
          <p:nvPr/>
        </p:nvSpPr>
        <p:spPr>
          <a:xfrm>
            <a:off x="5532120" y="3328416"/>
            <a:ext cx="2971800" cy="310896"/>
          </a:xfrm>
          <a:prstGeom prst="rect">
            <a:avLst/>
          </a:prstGeom>
          <a:noFill/>
          <a:ln/>
        </p:spPr>
        <p:txBody>
          <a:bodyPr wrap="square" lIns="0" tIns="0" rIns="0" bIns="0" rtlCol="0" anchor="ctr"/>
          <a:lstStyle/>
          <a:p>
            <a:pPr indent="0" marL="0">
              <a:buNone/>
            </a:pPr>
            <a:r>
              <a:rPr lang="en-US" sz="1400" dirty="0">
                <a:solidFill>
                  <a:schemeClr val="tx1"/>
                </a:solidFill>
              </a:rPr>
              <a:t>Improve team effectiveness.</a:t>
            </a:r>
            <a:endParaRPr lang="en-US" sz="1400" dirty="0"/>
          </a:p>
        </p:txBody>
      </p:sp>
      <p:sp>
        <p:nvSpPr>
          <p:cNvPr id="26" name="Sprint Retrospective example"/>
          <p:cNvSpPr txBox="1"/>
          <p:nvPr/>
        </p:nvSpPr>
        <p:spPr>
          <a:xfrm>
            <a:off x="5532120" y="3694176"/>
            <a:ext cx="2971800" cy="475488"/>
          </a:xfrm>
          <a:prstGeom prst="rect">
            <a:avLst/>
          </a:prstGeom>
          <a:noFill/>
          <a:ln/>
        </p:spPr>
        <p:txBody>
          <a:bodyPr wrap="square" lIns="0" tIns="0" rIns="0" bIns="0" rtlCol="0" anchor="t"/>
          <a:lstStyle/>
          <a:p>
            <a:pPr indent="0" marL="0">
              <a:buNone/>
            </a:pPr>
            <a:r>
              <a:rPr lang="en-US" sz="1400" b="1" dirty="0">
                <a:solidFill>
                  <a:schemeClr val="accent2"/>
                </a:solidFill>
              </a:rPr>
              <a:t>Example: </a:t>
            </a:r>
            <a:pPr indent="0" marL="0">
              <a:buNone/>
            </a:pPr>
            <a:r>
              <a:rPr lang="en-US" sz="1400" dirty="0">
                <a:solidFill>
                  <a:schemeClr val="accent2"/>
                </a:solidFill>
              </a:rPr>
              <a:t>Add an early check of the exported application.</a:t>
            </a:r>
            <a:endParaRPr lang="en-US" sz="1400" dirty="0"/>
          </a:p>
        </p:txBody>
      </p:sp>
      <p:sp>
        <p:nvSpPr>
          <p:cNvPr id="27"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r>
              <a:rPr lang="en-US" sz="1100" dirty="0">
                <a:solidFill>
                  <a:schemeClr val="accent5"/>
                </a:solidFill>
              </a:rPr>
              <a:t>(Iqbal, 2022)</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A user story makes completion testable</a:t>
            </a:r>
            <a:endParaRPr lang="en-US" sz="3200" dirty="0"/>
          </a:p>
        </p:txBody>
      </p:sp>
      <p:sp>
        <p:nvSpPr>
          <p:cNvPr id="3" name="story card"/>
          <p:cNvSpPr/>
          <p:nvPr/>
        </p:nvSpPr>
        <p:spPr>
          <a:xfrm>
            <a:off x="457200" y="1325880"/>
            <a:ext cx="8229600" cy="868680"/>
          </a:xfrm>
          <a:prstGeom prst="roundRect">
            <a:avLst>
              <a:gd name="adj" fmla="val 10526"/>
            </a:avLst>
          </a:prstGeom>
          <a:solidFill>
            <a:schemeClr val="tx1"/>
          </a:solidFill>
          <a:ln/>
        </p:spPr>
      </p:sp>
      <p:sp>
        <p:nvSpPr>
          <p:cNvPr id="4" name="story text"/>
          <p:cNvSpPr txBox="1"/>
          <p:nvPr/>
        </p:nvSpPr>
        <p:spPr>
          <a:xfrm>
            <a:off x="731520" y="1325880"/>
            <a:ext cx="7680960" cy="868680"/>
          </a:xfrm>
          <a:prstGeom prst="rect">
            <a:avLst/>
          </a:prstGeom>
          <a:noFill/>
          <a:ln/>
        </p:spPr>
        <p:txBody>
          <a:bodyPr wrap="square" lIns="0" tIns="0" rIns="0" bIns="0" rtlCol="0" anchor="ctr"/>
          <a:lstStyle/>
          <a:p>
            <a:pPr indent="0" marL="0">
              <a:buNone/>
            </a:pPr>
            <a:r>
              <a:rPr lang="en-US" sz="2000" b="1" dirty="0">
                <a:solidFill>
                  <a:schemeClr val="bg1"/>
                </a:solidFill>
              </a:rPr>
              <a:t>As a traveler, I want to set a maximum trip price so I can find trips within my budget.</a:t>
            </a:r>
            <a:endParaRPr lang="en-US" sz="2000" dirty="0"/>
          </a:p>
        </p:txBody>
      </p:sp>
      <p:sp>
        <p:nvSpPr>
          <p:cNvPr id="5" name="criteria header"/>
          <p:cNvSpPr txBox="1"/>
          <p:nvPr/>
        </p:nvSpPr>
        <p:spPr>
          <a:xfrm>
            <a:off x="457200" y="2377440"/>
            <a:ext cx="3931920" cy="347472"/>
          </a:xfrm>
          <a:prstGeom prst="rect">
            <a:avLst/>
          </a:prstGeom>
          <a:noFill/>
          <a:ln/>
        </p:spPr>
        <p:txBody>
          <a:bodyPr wrap="square" lIns="0" tIns="0" rIns="0" bIns="0" rtlCol="0" anchor="ctr"/>
          <a:lstStyle/>
          <a:p>
            <a:pPr indent="0" marL="0">
              <a:buNone/>
            </a:pPr>
            <a:r>
              <a:rPr lang="en-US" sz="1800" b="1" dirty="0">
                <a:solidFill>
                  <a:schemeClr val="tx1"/>
                </a:solidFill>
              </a:rPr>
              <a:t>Acceptance criteria</a:t>
            </a:r>
            <a:endParaRPr lang="en-US" sz="1800" dirty="0"/>
          </a:p>
        </p:txBody>
      </p:sp>
      <p:sp>
        <p:nvSpPr>
          <p:cNvPr id="6" name="criteria 1 check circle"/>
          <p:cNvSpPr/>
          <p:nvPr/>
        </p:nvSpPr>
        <p:spPr>
          <a:xfrm>
            <a:off x="457200" y="2871216"/>
            <a:ext cx="274320" cy="274320"/>
          </a:xfrm>
          <a:prstGeom prst="ellipse">
            <a:avLst/>
          </a:prstGeom>
          <a:solidFill>
            <a:schemeClr val="accent1"/>
          </a:solidFill>
          <a:ln/>
        </p:spPr>
      </p:sp>
      <p:pic>
        <p:nvPicPr>
          <p:cNvPr id="7" name="criteria 1 check" descr="preencoded.png">    </p:cNvPr>
          <p:cNvPicPr>
            <a:picLocks noChangeAspect="1"/>
          </p:cNvPicPr>
          <p:nvPr/>
        </p:nvPicPr>
        <p:blipFill>
          <a:blip r:embed="rId1"/>
          <a:stretch>
            <a:fillRect/>
          </a:stretch>
        </p:blipFill>
        <p:spPr>
          <a:xfrm>
            <a:off x="525780" y="2939796"/>
            <a:ext cx="137160" cy="137160"/>
          </a:xfrm>
          <a:prstGeom prst="rect">
            <a:avLst/>
          </a:prstGeom>
        </p:spPr>
      </p:pic>
      <p:sp>
        <p:nvSpPr>
          <p:cNvPr id="8" name="criteria 1 text"/>
          <p:cNvSpPr txBox="1"/>
          <p:nvPr/>
        </p:nvSpPr>
        <p:spPr>
          <a:xfrm>
            <a:off x="868680" y="2834640"/>
            <a:ext cx="3520440" cy="347472"/>
          </a:xfrm>
          <a:prstGeom prst="rect">
            <a:avLst/>
          </a:prstGeom>
          <a:noFill/>
          <a:ln/>
        </p:spPr>
        <p:txBody>
          <a:bodyPr wrap="square" lIns="0" tIns="0" rIns="0" bIns="0" rtlCol="0" anchor="ctr"/>
          <a:lstStyle/>
          <a:p>
            <a:pPr indent="0" marL="0">
              <a:buNone/>
            </a:pPr>
            <a:r>
              <a:rPr lang="en-US" sz="1600" dirty="0">
                <a:solidFill>
                  <a:schemeClr val="tx1"/>
                </a:solidFill>
              </a:rPr>
              <a:t>Enter a positive price.</a:t>
            </a:r>
            <a:endParaRPr lang="en-US" sz="1600" dirty="0"/>
          </a:p>
        </p:txBody>
      </p:sp>
      <p:sp>
        <p:nvSpPr>
          <p:cNvPr id="9" name="criteria 2 check circle"/>
          <p:cNvSpPr/>
          <p:nvPr/>
        </p:nvSpPr>
        <p:spPr>
          <a:xfrm>
            <a:off x="457200" y="3328416"/>
            <a:ext cx="274320" cy="274320"/>
          </a:xfrm>
          <a:prstGeom prst="ellipse">
            <a:avLst/>
          </a:prstGeom>
          <a:solidFill>
            <a:schemeClr val="accent1"/>
          </a:solidFill>
          <a:ln/>
        </p:spPr>
      </p:sp>
      <p:pic>
        <p:nvPicPr>
          <p:cNvPr id="10" name="criteria 2 check" descr="preencoded.png">    </p:cNvPr>
          <p:cNvPicPr>
            <a:picLocks noChangeAspect="1"/>
          </p:cNvPicPr>
          <p:nvPr/>
        </p:nvPicPr>
        <p:blipFill>
          <a:blip r:embed="rId2"/>
          <a:stretch>
            <a:fillRect/>
          </a:stretch>
        </p:blipFill>
        <p:spPr>
          <a:xfrm>
            <a:off x="525780" y="3396996"/>
            <a:ext cx="137160" cy="137160"/>
          </a:xfrm>
          <a:prstGeom prst="rect">
            <a:avLst/>
          </a:prstGeom>
        </p:spPr>
      </p:pic>
      <p:sp>
        <p:nvSpPr>
          <p:cNvPr id="11" name="criteria 2 text"/>
          <p:cNvSpPr txBox="1"/>
          <p:nvPr/>
        </p:nvSpPr>
        <p:spPr>
          <a:xfrm>
            <a:off x="868680" y="3291840"/>
            <a:ext cx="3520440" cy="347472"/>
          </a:xfrm>
          <a:prstGeom prst="rect">
            <a:avLst/>
          </a:prstGeom>
          <a:noFill/>
          <a:ln/>
        </p:spPr>
        <p:txBody>
          <a:bodyPr wrap="square" lIns="0" tIns="0" rIns="0" bIns="0" rtlCol="0" anchor="ctr"/>
          <a:lstStyle/>
          <a:p>
            <a:pPr indent="0" marL="0">
              <a:buNone/>
            </a:pPr>
            <a:r>
              <a:rPr lang="en-US" sz="1600" dirty="0">
                <a:solidFill>
                  <a:schemeClr val="tx1"/>
                </a:solidFill>
              </a:rPr>
              <a:t>Update matching results.</a:t>
            </a:r>
            <a:endParaRPr lang="en-US" sz="1600" dirty="0"/>
          </a:p>
        </p:txBody>
      </p:sp>
      <p:sp>
        <p:nvSpPr>
          <p:cNvPr id="12" name="criteria 3 check circle"/>
          <p:cNvSpPr/>
          <p:nvPr/>
        </p:nvSpPr>
        <p:spPr>
          <a:xfrm>
            <a:off x="457200" y="3785616"/>
            <a:ext cx="274320" cy="274320"/>
          </a:xfrm>
          <a:prstGeom prst="ellipse">
            <a:avLst/>
          </a:prstGeom>
          <a:solidFill>
            <a:schemeClr val="accent1"/>
          </a:solidFill>
          <a:ln/>
        </p:spPr>
      </p:sp>
      <p:pic>
        <p:nvPicPr>
          <p:cNvPr id="13" name="criteria 3 check" descr="preencoded.png">    </p:cNvPr>
          <p:cNvPicPr>
            <a:picLocks noChangeAspect="1"/>
          </p:cNvPicPr>
          <p:nvPr/>
        </p:nvPicPr>
        <p:blipFill>
          <a:blip r:embed="rId3"/>
          <a:stretch>
            <a:fillRect/>
          </a:stretch>
        </p:blipFill>
        <p:spPr>
          <a:xfrm>
            <a:off x="525780" y="3854196"/>
            <a:ext cx="137160" cy="137160"/>
          </a:xfrm>
          <a:prstGeom prst="rect">
            <a:avLst/>
          </a:prstGeom>
        </p:spPr>
      </p:pic>
      <p:sp>
        <p:nvSpPr>
          <p:cNvPr id="14" name="criteria 3 text"/>
          <p:cNvSpPr txBox="1"/>
          <p:nvPr/>
        </p:nvSpPr>
        <p:spPr>
          <a:xfrm>
            <a:off x="868680" y="3749040"/>
            <a:ext cx="3520440" cy="347472"/>
          </a:xfrm>
          <a:prstGeom prst="rect">
            <a:avLst/>
          </a:prstGeom>
          <a:noFill/>
          <a:ln/>
        </p:spPr>
        <p:txBody>
          <a:bodyPr wrap="square" lIns="0" tIns="0" rIns="0" bIns="0" rtlCol="0" anchor="ctr"/>
          <a:lstStyle/>
          <a:p>
            <a:pPr indent="0" marL="0">
              <a:buNone/>
            </a:pPr>
            <a:r>
              <a:rPr lang="en-US" sz="1600" dirty="0">
                <a:solidFill>
                  <a:schemeClr val="tx1"/>
                </a:solidFill>
              </a:rPr>
              <a:t>Explain when no trips match.</a:t>
            </a:r>
            <a:endParaRPr lang="en-US" sz="1600" dirty="0"/>
          </a:p>
        </p:txBody>
      </p:sp>
      <p:sp>
        <p:nvSpPr>
          <p:cNvPr id="15" name="check header"/>
          <p:cNvSpPr txBox="1"/>
          <p:nvPr/>
        </p:nvSpPr>
        <p:spPr>
          <a:xfrm>
            <a:off x="4754880" y="2377440"/>
            <a:ext cx="3931920" cy="347472"/>
          </a:xfrm>
          <a:prstGeom prst="rect">
            <a:avLst/>
          </a:prstGeom>
          <a:noFill/>
          <a:ln/>
        </p:spPr>
        <p:txBody>
          <a:bodyPr wrap="square" lIns="0" tIns="0" rIns="0" bIns="0" rtlCol="0" anchor="ctr"/>
          <a:lstStyle/>
          <a:p>
            <a:pPr indent="0" marL="0">
              <a:buNone/>
            </a:pPr>
            <a:r>
              <a:rPr lang="en-US" sz="1800" b="1" dirty="0">
                <a:solidFill>
                  <a:schemeClr val="tx1"/>
                </a:solidFill>
              </a:rPr>
              <a:t>Proposed check with a $1,000 limit</a:t>
            </a:r>
            <a:endParaRPr lang="en-US" sz="1800" dirty="0"/>
          </a:p>
        </p:txBody>
      </p:sp>
      <p:sp>
        <p:nvSpPr>
          <p:cNvPr id="16" name="price chip $900"/>
          <p:cNvSpPr/>
          <p:nvPr/>
        </p:nvSpPr>
        <p:spPr>
          <a:xfrm>
            <a:off x="4754880" y="2852928"/>
            <a:ext cx="914400" cy="347472"/>
          </a:xfrm>
          <a:prstGeom prst="roundRect">
            <a:avLst>
              <a:gd name="adj" fmla="val 21053"/>
            </a:avLst>
          </a:prstGeom>
          <a:solidFill>
            <a:schemeClr val="accent1"/>
          </a:solidFill>
          <a:ln/>
        </p:spPr>
      </p:sp>
      <p:sp>
        <p:nvSpPr>
          <p:cNvPr id="17" name="price $900"/>
          <p:cNvSpPr txBox="1"/>
          <p:nvPr/>
        </p:nvSpPr>
        <p:spPr>
          <a:xfrm>
            <a:off x="4754880" y="2852928"/>
            <a:ext cx="914400" cy="347472"/>
          </a:xfrm>
          <a:prstGeom prst="rect">
            <a:avLst/>
          </a:prstGeom>
          <a:noFill/>
          <a:ln/>
        </p:spPr>
        <p:txBody>
          <a:bodyPr wrap="square" lIns="0" tIns="0" rIns="0" bIns="0" rtlCol="0" anchor="ctr"/>
          <a:lstStyle/>
          <a:p>
            <a:pPr algn="ctr" indent="0" marL="0">
              <a:buNone/>
            </a:pPr>
            <a:r>
              <a:rPr lang="en-US" sz="1600" b="1" dirty="0">
                <a:solidFill>
                  <a:schemeClr val="tx1"/>
                </a:solidFill>
              </a:rPr>
              <a:t>$900</a:t>
            </a:r>
            <a:endParaRPr lang="en-US" sz="1600" dirty="0"/>
          </a:p>
        </p:txBody>
      </p:sp>
      <p:sp>
        <p:nvSpPr>
          <p:cNvPr id="18" name="verdict $900"/>
          <p:cNvSpPr txBox="1"/>
          <p:nvPr/>
        </p:nvSpPr>
        <p:spPr>
          <a:xfrm>
            <a:off x="5852160" y="2834640"/>
            <a:ext cx="2834640" cy="384048"/>
          </a:xfrm>
          <a:prstGeom prst="rect">
            <a:avLst/>
          </a:prstGeom>
          <a:noFill/>
          <a:ln/>
        </p:spPr>
        <p:txBody>
          <a:bodyPr wrap="square" lIns="0" tIns="0" rIns="0" bIns="0" rtlCol="0" anchor="ctr"/>
          <a:lstStyle/>
          <a:p>
            <a:pPr indent="0" marL="0">
              <a:buNone/>
            </a:pPr>
            <a:r>
              <a:rPr lang="en-US" sz="1600" dirty="0">
                <a:solidFill>
                  <a:schemeClr val="tx1"/>
                </a:solidFill>
              </a:rPr>
              <a:t>Include</a:t>
            </a:r>
            <a:endParaRPr lang="en-US" sz="1600" dirty="0"/>
          </a:p>
        </p:txBody>
      </p:sp>
      <p:sp>
        <p:nvSpPr>
          <p:cNvPr id="19" name="price chip $1,000"/>
          <p:cNvSpPr/>
          <p:nvPr/>
        </p:nvSpPr>
        <p:spPr>
          <a:xfrm>
            <a:off x="4754880" y="3310128"/>
            <a:ext cx="914400" cy="347472"/>
          </a:xfrm>
          <a:prstGeom prst="roundRect">
            <a:avLst>
              <a:gd name="adj" fmla="val 21053"/>
            </a:avLst>
          </a:prstGeom>
          <a:solidFill>
            <a:schemeClr val="accent4"/>
          </a:solidFill>
          <a:ln/>
        </p:spPr>
      </p:sp>
      <p:sp>
        <p:nvSpPr>
          <p:cNvPr id="20" name="price $1,000"/>
          <p:cNvSpPr txBox="1"/>
          <p:nvPr/>
        </p:nvSpPr>
        <p:spPr>
          <a:xfrm>
            <a:off x="4754880" y="3310128"/>
            <a:ext cx="914400" cy="347472"/>
          </a:xfrm>
          <a:prstGeom prst="rect">
            <a:avLst/>
          </a:prstGeom>
          <a:noFill/>
          <a:ln/>
        </p:spPr>
        <p:txBody>
          <a:bodyPr wrap="square" lIns="0" tIns="0" rIns="0" bIns="0" rtlCol="0" anchor="ctr"/>
          <a:lstStyle/>
          <a:p>
            <a:pPr algn="ctr" indent="0" marL="0">
              <a:buNone/>
            </a:pPr>
            <a:r>
              <a:rPr lang="en-US" sz="1600" b="1" dirty="0">
                <a:solidFill>
                  <a:schemeClr val="tx1"/>
                </a:solidFill>
              </a:rPr>
              <a:t>$1,000</a:t>
            </a:r>
            <a:endParaRPr lang="en-US" sz="1600" dirty="0"/>
          </a:p>
        </p:txBody>
      </p:sp>
      <p:sp>
        <p:nvSpPr>
          <p:cNvPr id="21" name="verdict $1,000"/>
          <p:cNvSpPr txBox="1"/>
          <p:nvPr/>
        </p:nvSpPr>
        <p:spPr>
          <a:xfrm>
            <a:off x="5852160" y="3291840"/>
            <a:ext cx="2834640" cy="384048"/>
          </a:xfrm>
          <a:prstGeom prst="rect">
            <a:avLst/>
          </a:prstGeom>
          <a:noFill/>
          <a:ln/>
        </p:spPr>
        <p:txBody>
          <a:bodyPr wrap="square" lIns="0" tIns="0" rIns="0" bIns="0" rtlCol="0" anchor="ctr"/>
          <a:lstStyle/>
          <a:p>
            <a:pPr indent="0" marL="0">
              <a:buNone/>
            </a:pPr>
            <a:r>
              <a:rPr lang="en-US" sz="1600" dirty="0">
                <a:solidFill>
                  <a:schemeClr val="tx1"/>
                </a:solidFill>
              </a:rPr>
              <a:t>Confirm boundary rule</a:t>
            </a:r>
            <a:endParaRPr lang="en-US" sz="1600" dirty="0"/>
          </a:p>
        </p:txBody>
      </p:sp>
      <p:sp>
        <p:nvSpPr>
          <p:cNvPr id="22" name="price chip $1,100"/>
          <p:cNvSpPr/>
          <p:nvPr/>
        </p:nvSpPr>
        <p:spPr>
          <a:xfrm>
            <a:off x="4754880" y="3767328"/>
            <a:ext cx="914400" cy="347472"/>
          </a:xfrm>
          <a:prstGeom prst="roundRect">
            <a:avLst>
              <a:gd name="adj" fmla="val 21053"/>
            </a:avLst>
          </a:prstGeom>
          <a:solidFill>
            <a:schemeClr val="accent5"/>
          </a:solidFill>
          <a:ln/>
        </p:spPr>
      </p:sp>
      <p:sp>
        <p:nvSpPr>
          <p:cNvPr id="23" name="price $1,100"/>
          <p:cNvSpPr txBox="1"/>
          <p:nvPr/>
        </p:nvSpPr>
        <p:spPr>
          <a:xfrm>
            <a:off x="4754880" y="3767328"/>
            <a:ext cx="914400" cy="347472"/>
          </a:xfrm>
          <a:prstGeom prst="rect">
            <a:avLst/>
          </a:prstGeom>
          <a:noFill/>
          <a:ln/>
        </p:spPr>
        <p:txBody>
          <a:bodyPr wrap="square" lIns="0" tIns="0" rIns="0" bIns="0" rtlCol="0" anchor="ctr"/>
          <a:lstStyle/>
          <a:p>
            <a:pPr algn="ctr" indent="0" marL="0">
              <a:buNone/>
            </a:pPr>
            <a:r>
              <a:rPr lang="en-US" sz="1600" b="1" dirty="0">
                <a:solidFill>
                  <a:schemeClr val="bg1"/>
                </a:solidFill>
              </a:rPr>
              <a:t>$1,100</a:t>
            </a:r>
            <a:endParaRPr lang="en-US" sz="1600" dirty="0"/>
          </a:p>
        </p:txBody>
      </p:sp>
      <p:sp>
        <p:nvSpPr>
          <p:cNvPr id="24" name="verdict $1,100"/>
          <p:cNvSpPr txBox="1"/>
          <p:nvPr/>
        </p:nvSpPr>
        <p:spPr>
          <a:xfrm>
            <a:off x="5852160" y="3749040"/>
            <a:ext cx="2834640" cy="384048"/>
          </a:xfrm>
          <a:prstGeom prst="rect">
            <a:avLst/>
          </a:prstGeom>
          <a:noFill/>
          <a:ln/>
        </p:spPr>
        <p:txBody>
          <a:bodyPr wrap="square" lIns="0" tIns="0" rIns="0" bIns="0" rtlCol="0" anchor="ctr"/>
          <a:lstStyle/>
          <a:p>
            <a:pPr indent="0" marL="0">
              <a:buNone/>
            </a:pPr>
            <a:r>
              <a:rPr lang="en-US" sz="1600" dirty="0">
                <a:solidFill>
                  <a:schemeClr val="tx1"/>
                </a:solidFill>
              </a:rPr>
              <a:t>Exclude</a:t>
            </a:r>
            <a:endParaRPr lang="en-US" sz="1600" dirty="0"/>
          </a:p>
        </p:txBody>
      </p:sp>
      <p:sp>
        <p:nvSpPr>
          <p:cNvPr id="25" name="takeaway"/>
          <p:cNvSpPr txBox="1"/>
          <p:nvPr/>
        </p:nvSpPr>
        <p:spPr>
          <a:xfrm>
            <a:off x="457200" y="4279392"/>
            <a:ext cx="8229600" cy="329184"/>
          </a:xfrm>
          <a:prstGeom prst="rect">
            <a:avLst/>
          </a:prstGeom>
          <a:noFill/>
          <a:ln/>
        </p:spPr>
        <p:txBody>
          <a:bodyPr wrap="square" lIns="0" tIns="0" rIns="0" bIns="0" rtlCol="0" anchor="ctr"/>
          <a:lstStyle/>
          <a:p>
            <a:pPr indent="0" marL="0">
              <a:buNone/>
            </a:pPr>
            <a:r>
              <a:rPr lang="en-US" sz="1600" b="1" dirty="0">
                <a:solidFill>
                  <a:schemeClr val="accent2"/>
                </a:solidFill>
              </a:rPr>
              <a:t>Clarify the boundary rule before implementation and testing.</a:t>
            </a:r>
            <a:endParaRPr lang="en-US" sz="1600" dirty="0"/>
          </a:p>
        </p:txBody>
      </p:sp>
      <p:sp>
        <p:nvSpPr>
          <p:cNvPr id="27"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How waterfall would change the work</a:t>
            </a:r>
            <a:endParaRPr lang="en-US" sz="3200" dirty="0"/>
          </a:p>
        </p:txBody>
      </p:sp>
      <p:graphicFrame>
        <p:nvGraphicFramePr>
          <p:cNvPr id="8" name="waterfall comparison table"/>
          <p:cNvGraphicFramePr>
            <a:graphicFrameLocks noGrp="1"/>
          </p:cNvGraphicFramePr>
          <p:nvPr>
            <p:extLst>
              <p:ext uri="{D42A27DB-BD31-4B8C-83A1-F6EECF244321}">
                <p14:modId xmlns:p14="http://schemas.microsoft.com/office/powerpoint/2010/main" val="1579011935"/>
              </p:ext>
            </p:extLst>
          </p:nvPr>
        </p:nvGraphicFramePr>
        <p:xfrm>
          <a:off x="457200" y="1371600"/>
          <a:ext cx="8229600" cy="914400"/>
        </p:xfrm>
        <a:graphic>
          <a:graphicData uri="http://schemas.openxmlformats.org/drawingml/2006/table">
            <a:tbl>
              <a:tblPr/>
              <a:tblGrid>
                <a:gridCol w="1737360"/>
                <a:gridCol w="3200400"/>
                <a:gridCol w="3291840"/>
              </a:tblGrid>
              <a:tr h="411480">
                <a:tc>
                  <a:txBody>
                    <a:bodyPr/>
                    <a:lstStyle/>
                    <a:p>
                      <a:pPr indent="0" marL="0">
                        <a:buNone/>
                      </a:pPr>
                      <a:r>
                        <a:rPr lang="en-US" sz="1400" b="1" dirty="0">
                          <a:solidFill>
                            <a:schemeClr val="bg1"/>
                          </a:solidFill>
                        </a:rPr>
                        <a:t>Decision</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400" b="1" dirty="0">
                          <a:solidFill>
                            <a:schemeClr val="bg1"/>
                          </a:solidFill>
                        </a:rPr>
                        <a:t>Waterfall approach</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5"/>
                    </a:solidFill>
                  </a:tcPr>
                </a:tc>
                <a:tc>
                  <a:txBody>
                    <a:bodyPr/>
                    <a:lstStyle/>
                    <a:p>
                      <a:pPr indent="0" marL="0">
                        <a:buNone/>
                      </a:pPr>
                      <a:r>
                        <a:rPr lang="en-US" sz="1400" b="1" dirty="0">
                          <a:solidFill>
                            <a:schemeClr val="tx1"/>
                          </a:solidFill>
                        </a:rPr>
                        <a:t>Scrum and Agile approach</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accent1"/>
                    </a:solidFill>
                  </a:tcPr>
                </a:tc>
              </a:tr>
              <a:tr h="640080">
                <a:tc>
                  <a:txBody>
                    <a:bodyPr/>
                    <a:lstStyle/>
                    <a:p>
                      <a:pPr indent="0" marL="0">
                        <a:buNone/>
                      </a:pPr>
                      <a:r>
                        <a:rPr lang="en-US" sz="1400" b="1" dirty="0">
                          <a:solidFill>
                            <a:schemeClr val="tx1"/>
                          </a:solidFill>
                        </a:rPr>
                        <a:t>Requirements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Define a detailed baseline early.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Refine a prioritized backlog as understanding grows.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400" b="1" dirty="0">
                          <a:solidFill>
                            <a:schemeClr val="tx1"/>
                          </a:solidFill>
                        </a:rPr>
                        <a:t>Delivery</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Complete planned stages in sequence.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Build and inspect usable increments.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r h="640080">
                <a:tc>
                  <a:txBody>
                    <a:bodyPr/>
                    <a:lstStyle/>
                    <a:p>
                      <a:pPr indent="0" marL="0">
                        <a:buNone/>
                      </a:pPr>
                      <a:r>
                        <a:rPr lang="en-US" sz="1400" b="1" dirty="0">
                          <a:solidFill>
                            <a:schemeClr val="tx1"/>
                          </a:solidFill>
                        </a:rPr>
                        <a:t>New filter request</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Assess impact on approved scope, design, and schedule.</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c>
                  <a:txBody>
                    <a:bodyPr/>
                    <a:lstStyle/>
                    <a:p>
                      <a:pPr indent="0" marL="0">
                        <a:buNone/>
                      </a:pPr>
                      <a:r>
                        <a:rPr lang="en-US" sz="1400" dirty="0">
                          <a:solidFill>
                            <a:schemeClr val="tx1"/>
                          </a:solidFill>
                        </a:rPr>
                        <a:t>Order the request and plan it without undermining the Sprint Goal.</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2"/>
                    </a:solidFill>
                  </a:tcPr>
                </a:tc>
              </a:tr>
              <a:tr h="640080">
                <a:tc>
                  <a:txBody>
                    <a:bodyPr/>
                    <a:lstStyle/>
                    <a:p>
                      <a:pPr indent="0" marL="0">
                        <a:buNone/>
                      </a:pPr>
                      <a:r>
                        <a:rPr lang="en-US" sz="1400" b="1" dirty="0">
                          <a:solidFill>
                            <a:schemeClr val="tx1"/>
                          </a:solidFill>
                        </a:rPr>
                        <a:t>Feedback</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Plan formal reviews and acceptance checkpoints.</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c>
                  <a:txBody>
                    <a:bodyPr/>
                    <a:lstStyle/>
                    <a:p>
                      <a:pPr indent="0" marL="0">
                        <a:buNone/>
                      </a:pPr>
                      <a:r>
                        <a:rPr lang="en-US" sz="1400" dirty="0">
                          <a:solidFill>
                            <a:schemeClr val="tx1"/>
                          </a:solidFill>
                        </a:rPr>
                        <a:t>Use frequent feedback to adjust future work.</a:t>
                      </a:r>
                      <a:endParaRPr lang="en-US" sz="1400" dirty="0"/>
                    </a:p>
                  </a:txBody>
                  <a:tcPr marL="101600" marR="101600" marT="50800" marB="50800" anchor="ctr">
                    <a:lnL w="0" cap="flat" cmpd="sng" algn="ctr">
                      <a:noFill/>
                    </a:lnL>
                    <a:lnR w="0" cap="flat" cmpd="sng" algn="ctr">
                      <a:noFill/>
                    </a:lnR>
                    <a:lnT w="0" cap="flat" cmpd="sng" algn="ctr">
                      <a:noFill/>
                    </a:lnT>
                    <a:lnB w="0" cap="flat" cmpd="sng" algn="ctr">
                      <a:noFill/>
                    </a:lnB>
                    <a:solidFill>
                      <a:schemeClr val="bg1"/>
                    </a:solidFill>
                  </a:tcPr>
                </a:tc>
              </a:tr>
            </a:tbl>
          </a:graphicData>
        </a:graphic>
      </p:graphicFrame>
      <p:sp>
        <p:nvSpPr>
          <p:cNvPr id="4"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r>
              <a:rPr lang="en-US" sz="1100" dirty="0">
                <a:solidFill>
                  <a:schemeClr val="accent5"/>
                </a:solidFill>
              </a:rPr>
              <a:t>(Madaan, 2024; Jackson et al., n.d.)</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Choosing a development approach</a:t>
            </a:r>
            <a:endParaRPr lang="en-US" sz="3200" dirty="0"/>
          </a:p>
        </p:txBody>
      </p:sp>
      <p:sp>
        <p:nvSpPr>
          <p:cNvPr id="3" name="Requirements card"/>
          <p:cNvSpPr/>
          <p:nvPr/>
        </p:nvSpPr>
        <p:spPr>
          <a:xfrm>
            <a:off x="457200" y="1280160"/>
            <a:ext cx="4023360" cy="1481328"/>
          </a:xfrm>
          <a:prstGeom prst="roundRect">
            <a:avLst>
              <a:gd name="adj" fmla="val 6173"/>
            </a:avLst>
          </a:prstGeom>
          <a:solidFill>
            <a:schemeClr val="bg2"/>
          </a:solidFill>
          <a:ln/>
        </p:spPr>
      </p:sp>
      <p:sp>
        <p:nvSpPr>
          <p:cNvPr id="4" name="Requirements title"/>
          <p:cNvSpPr txBox="1"/>
          <p:nvPr/>
        </p:nvSpPr>
        <p:spPr>
          <a:xfrm>
            <a:off x="640080" y="1371600"/>
            <a:ext cx="3657600" cy="310896"/>
          </a:xfrm>
          <a:prstGeom prst="rect">
            <a:avLst/>
          </a:prstGeom>
          <a:noFill/>
          <a:ln/>
        </p:spPr>
        <p:txBody>
          <a:bodyPr wrap="square" lIns="0" tIns="0" rIns="0" bIns="0" rtlCol="0" anchor="ctr"/>
          <a:lstStyle/>
          <a:p>
            <a:pPr indent="0" marL="0">
              <a:buNone/>
            </a:pPr>
            <a:r>
              <a:rPr lang="en-US" sz="1800" b="1" dirty="0">
                <a:solidFill>
                  <a:schemeClr val="tx1"/>
                </a:solidFill>
              </a:rPr>
              <a:t>Requirements</a:t>
            </a:r>
            <a:endParaRPr lang="en-US" sz="1800" dirty="0"/>
          </a:p>
        </p:txBody>
      </p:sp>
      <p:sp>
        <p:nvSpPr>
          <p:cNvPr id="5" name="Requirements AGILE chip"/>
          <p:cNvSpPr/>
          <p:nvPr/>
        </p:nvSpPr>
        <p:spPr>
          <a:xfrm>
            <a:off x="640080" y="1810512"/>
            <a:ext cx="914400" cy="237744"/>
          </a:xfrm>
          <a:prstGeom prst="roundRect">
            <a:avLst>
              <a:gd name="adj" fmla="val 23077"/>
            </a:avLst>
          </a:prstGeom>
          <a:solidFill>
            <a:schemeClr val="accent1"/>
          </a:solidFill>
          <a:ln/>
        </p:spPr>
      </p:sp>
      <p:sp>
        <p:nvSpPr>
          <p:cNvPr id="6" name="Requirements AGILE tag"/>
          <p:cNvSpPr txBox="1"/>
          <p:nvPr/>
        </p:nvSpPr>
        <p:spPr>
          <a:xfrm>
            <a:off x="640080" y="1810512"/>
            <a:ext cx="914400" cy="237744"/>
          </a:xfrm>
          <a:prstGeom prst="rect">
            <a:avLst/>
          </a:prstGeom>
          <a:noFill/>
          <a:ln/>
        </p:spPr>
        <p:txBody>
          <a:bodyPr wrap="square" lIns="0" tIns="0" rIns="0" bIns="0" rtlCol="0" anchor="ctr"/>
          <a:lstStyle/>
          <a:p>
            <a:pPr algn="ctr" indent="0" marL="0">
              <a:buNone/>
            </a:pPr>
            <a:r>
              <a:rPr lang="en-US" sz="1000" b="1" dirty="0">
                <a:solidFill>
                  <a:schemeClr val="tx1"/>
                </a:solidFill>
              </a:rPr>
              <a:t>AGILE</a:t>
            </a:r>
            <a:endParaRPr lang="en-US" sz="1000" dirty="0"/>
          </a:p>
        </p:txBody>
      </p:sp>
      <p:sp>
        <p:nvSpPr>
          <p:cNvPr id="7" name="Requirements AGILE text"/>
          <p:cNvSpPr txBox="1"/>
          <p:nvPr/>
        </p:nvSpPr>
        <p:spPr>
          <a:xfrm>
            <a:off x="1691640" y="1737360"/>
            <a:ext cx="2651760" cy="457200"/>
          </a:xfrm>
          <a:prstGeom prst="rect">
            <a:avLst/>
          </a:prstGeom>
          <a:noFill/>
          <a:ln/>
        </p:spPr>
        <p:txBody>
          <a:bodyPr wrap="square" lIns="0" tIns="0" rIns="0" bIns="0" rtlCol="0" anchor="ctr"/>
          <a:lstStyle/>
          <a:p>
            <a:pPr indent="0" marL="0">
              <a:buNone/>
            </a:pPr>
            <a:r>
              <a:rPr lang="en-US" sz="1400" dirty="0">
                <a:solidFill>
                  <a:schemeClr val="tx1"/>
                </a:solidFill>
              </a:rPr>
              <a:t>Preferences are still evolving.</a:t>
            </a:r>
            <a:endParaRPr lang="en-US" sz="1400" dirty="0"/>
          </a:p>
        </p:txBody>
      </p:sp>
      <p:sp>
        <p:nvSpPr>
          <p:cNvPr id="8" name="Requirements PREDICTIVE chip"/>
          <p:cNvSpPr/>
          <p:nvPr/>
        </p:nvSpPr>
        <p:spPr>
          <a:xfrm>
            <a:off x="640080" y="2304288"/>
            <a:ext cx="914400" cy="237744"/>
          </a:xfrm>
          <a:prstGeom prst="roundRect">
            <a:avLst>
              <a:gd name="adj" fmla="val 23077"/>
            </a:avLst>
          </a:prstGeom>
          <a:solidFill>
            <a:schemeClr val="accent5"/>
          </a:solidFill>
          <a:ln/>
        </p:spPr>
      </p:sp>
      <p:sp>
        <p:nvSpPr>
          <p:cNvPr id="9" name="Requirements PREDICTIVE tag"/>
          <p:cNvSpPr txBox="1"/>
          <p:nvPr/>
        </p:nvSpPr>
        <p:spPr>
          <a:xfrm>
            <a:off x="640080" y="2304288"/>
            <a:ext cx="914400" cy="237744"/>
          </a:xfrm>
          <a:prstGeom prst="rect">
            <a:avLst/>
          </a:prstGeom>
          <a:noFill/>
          <a:ln/>
        </p:spPr>
        <p:txBody>
          <a:bodyPr wrap="square" lIns="0" tIns="0" rIns="0" bIns="0" rtlCol="0" anchor="ctr"/>
          <a:lstStyle/>
          <a:p>
            <a:pPr algn="ctr" indent="0" marL="0">
              <a:buNone/>
            </a:pPr>
            <a:r>
              <a:rPr lang="en-US" sz="1000" b="1" dirty="0">
                <a:solidFill>
                  <a:schemeClr val="bg1"/>
                </a:solidFill>
              </a:rPr>
              <a:t>PREDICTIVE</a:t>
            </a:r>
            <a:endParaRPr lang="en-US" sz="1000" dirty="0"/>
          </a:p>
        </p:txBody>
      </p:sp>
      <p:sp>
        <p:nvSpPr>
          <p:cNvPr id="10" name="Requirements PREDICTIVE text"/>
          <p:cNvSpPr txBox="1"/>
          <p:nvPr/>
        </p:nvSpPr>
        <p:spPr>
          <a:xfrm>
            <a:off x="1691640" y="2231136"/>
            <a:ext cx="2651760" cy="457200"/>
          </a:xfrm>
          <a:prstGeom prst="rect">
            <a:avLst/>
          </a:prstGeom>
          <a:noFill/>
          <a:ln/>
        </p:spPr>
        <p:txBody>
          <a:bodyPr wrap="square" lIns="0" tIns="0" rIns="0" bIns="0" rtlCol="0" anchor="ctr"/>
          <a:lstStyle/>
          <a:p>
            <a:pPr indent="0" marL="0">
              <a:buNone/>
            </a:pPr>
            <a:r>
              <a:rPr lang="en-US" sz="1400" dirty="0">
                <a:solidFill>
                  <a:schemeClr val="tx1"/>
                </a:solidFill>
              </a:rPr>
              <a:t>Scope and acceptance are well understood.</a:t>
            </a:r>
            <a:endParaRPr lang="en-US" sz="1400" dirty="0"/>
          </a:p>
        </p:txBody>
      </p:sp>
      <p:sp>
        <p:nvSpPr>
          <p:cNvPr id="11" name="Customer availability card"/>
          <p:cNvSpPr/>
          <p:nvPr/>
        </p:nvSpPr>
        <p:spPr>
          <a:xfrm>
            <a:off x="4663440" y="1280160"/>
            <a:ext cx="4023360" cy="1481328"/>
          </a:xfrm>
          <a:prstGeom prst="roundRect">
            <a:avLst>
              <a:gd name="adj" fmla="val 6173"/>
            </a:avLst>
          </a:prstGeom>
          <a:solidFill>
            <a:schemeClr val="bg2"/>
          </a:solidFill>
          <a:ln/>
        </p:spPr>
      </p:sp>
      <p:sp>
        <p:nvSpPr>
          <p:cNvPr id="12" name="Customer availability title"/>
          <p:cNvSpPr txBox="1"/>
          <p:nvPr/>
        </p:nvSpPr>
        <p:spPr>
          <a:xfrm>
            <a:off x="4846320" y="1371600"/>
            <a:ext cx="3657600" cy="310896"/>
          </a:xfrm>
          <a:prstGeom prst="rect">
            <a:avLst/>
          </a:prstGeom>
          <a:noFill/>
          <a:ln/>
        </p:spPr>
        <p:txBody>
          <a:bodyPr wrap="square" lIns="0" tIns="0" rIns="0" bIns="0" rtlCol="0" anchor="ctr"/>
          <a:lstStyle/>
          <a:p>
            <a:pPr indent="0" marL="0">
              <a:buNone/>
            </a:pPr>
            <a:r>
              <a:rPr lang="en-US" sz="1800" b="1" dirty="0">
                <a:solidFill>
                  <a:schemeClr val="tx1"/>
                </a:solidFill>
              </a:rPr>
              <a:t>Customer availability</a:t>
            </a:r>
            <a:endParaRPr lang="en-US" sz="1800" dirty="0"/>
          </a:p>
        </p:txBody>
      </p:sp>
      <p:sp>
        <p:nvSpPr>
          <p:cNvPr id="13" name="Customer availability AGILE chip"/>
          <p:cNvSpPr/>
          <p:nvPr/>
        </p:nvSpPr>
        <p:spPr>
          <a:xfrm>
            <a:off x="4846320" y="1810512"/>
            <a:ext cx="914400" cy="237744"/>
          </a:xfrm>
          <a:prstGeom prst="roundRect">
            <a:avLst>
              <a:gd name="adj" fmla="val 23077"/>
            </a:avLst>
          </a:prstGeom>
          <a:solidFill>
            <a:schemeClr val="accent1"/>
          </a:solidFill>
          <a:ln/>
        </p:spPr>
      </p:sp>
      <p:sp>
        <p:nvSpPr>
          <p:cNvPr id="14" name="Customer availability AGILE tag"/>
          <p:cNvSpPr txBox="1"/>
          <p:nvPr/>
        </p:nvSpPr>
        <p:spPr>
          <a:xfrm>
            <a:off x="4846320" y="1810512"/>
            <a:ext cx="914400" cy="237744"/>
          </a:xfrm>
          <a:prstGeom prst="rect">
            <a:avLst/>
          </a:prstGeom>
          <a:noFill/>
          <a:ln/>
        </p:spPr>
        <p:txBody>
          <a:bodyPr wrap="square" lIns="0" tIns="0" rIns="0" bIns="0" rtlCol="0" anchor="ctr"/>
          <a:lstStyle/>
          <a:p>
            <a:pPr algn="ctr" indent="0" marL="0">
              <a:buNone/>
            </a:pPr>
            <a:r>
              <a:rPr lang="en-US" sz="1000" b="1" dirty="0">
                <a:solidFill>
                  <a:schemeClr val="tx1"/>
                </a:solidFill>
              </a:rPr>
              <a:t>AGILE</a:t>
            </a:r>
            <a:endParaRPr lang="en-US" sz="1000" dirty="0"/>
          </a:p>
        </p:txBody>
      </p:sp>
      <p:sp>
        <p:nvSpPr>
          <p:cNvPr id="15" name="Customer availability AGILE text"/>
          <p:cNvSpPr txBox="1"/>
          <p:nvPr/>
        </p:nvSpPr>
        <p:spPr>
          <a:xfrm>
            <a:off x="5897880" y="1737360"/>
            <a:ext cx="2651760" cy="457200"/>
          </a:xfrm>
          <a:prstGeom prst="rect">
            <a:avLst/>
          </a:prstGeom>
          <a:noFill/>
          <a:ln/>
        </p:spPr>
        <p:txBody>
          <a:bodyPr wrap="square" lIns="0" tIns="0" rIns="0" bIns="0" rtlCol="0" anchor="ctr"/>
          <a:lstStyle/>
          <a:p>
            <a:pPr indent="0" marL="0">
              <a:buNone/>
            </a:pPr>
            <a:r>
              <a:rPr lang="en-US" sz="1400" dirty="0">
                <a:solidFill>
                  <a:schemeClr val="tx1"/>
                </a:solidFill>
              </a:rPr>
              <a:t>Regular feedback is available.</a:t>
            </a:r>
            <a:endParaRPr lang="en-US" sz="1400" dirty="0"/>
          </a:p>
        </p:txBody>
      </p:sp>
      <p:sp>
        <p:nvSpPr>
          <p:cNvPr id="16" name="Customer availability PREDICTIVE chip"/>
          <p:cNvSpPr/>
          <p:nvPr/>
        </p:nvSpPr>
        <p:spPr>
          <a:xfrm>
            <a:off x="4846320" y="2304288"/>
            <a:ext cx="914400" cy="237744"/>
          </a:xfrm>
          <a:prstGeom prst="roundRect">
            <a:avLst>
              <a:gd name="adj" fmla="val 23077"/>
            </a:avLst>
          </a:prstGeom>
          <a:solidFill>
            <a:schemeClr val="accent5"/>
          </a:solidFill>
          <a:ln/>
        </p:spPr>
      </p:sp>
      <p:sp>
        <p:nvSpPr>
          <p:cNvPr id="17" name="Customer availability PREDICTIVE tag"/>
          <p:cNvSpPr txBox="1"/>
          <p:nvPr/>
        </p:nvSpPr>
        <p:spPr>
          <a:xfrm>
            <a:off x="4846320" y="2304288"/>
            <a:ext cx="914400" cy="237744"/>
          </a:xfrm>
          <a:prstGeom prst="rect">
            <a:avLst/>
          </a:prstGeom>
          <a:noFill/>
          <a:ln/>
        </p:spPr>
        <p:txBody>
          <a:bodyPr wrap="square" lIns="0" tIns="0" rIns="0" bIns="0" rtlCol="0" anchor="ctr"/>
          <a:lstStyle/>
          <a:p>
            <a:pPr algn="ctr" indent="0" marL="0">
              <a:buNone/>
            </a:pPr>
            <a:r>
              <a:rPr lang="en-US" sz="1000" b="1" dirty="0">
                <a:solidFill>
                  <a:schemeClr val="bg1"/>
                </a:solidFill>
              </a:rPr>
              <a:t>PREDICTIVE</a:t>
            </a:r>
            <a:endParaRPr lang="en-US" sz="1000" dirty="0"/>
          </a:p>
        </p:txBody>
      </p:sp>
      <p:sp>
        <p:nvSpPr>
          <p:cNvPr id="18" name="Customer availability PREDICTIVE text"/>
          <p:cNvSpPr txBox="1"/>
          <p:nvPr/>
        </p:nvSpPr>
        <p:spPr>
          <a:xfrm>
            <a:off x="5897880" y="2231136"/>
            <a:ext cx="2651760" cy="457200"/>
          </a:xfrm>
          <a:prstGeom prst="rect">
            <a:avLst/>
          </a:prstGeom>
          <a:noFill/>
          <a:ln/>
        </p:spPr>
        <p:txBody>
          <a:bodyPr wrap="square" lIns="0" tIns="0" rIns="0" bIns="0" rtlCol="0" anchor="ctr"/>
          <a:lstStyle/>
          <a:p>
            <a:pPr indent="0" marL="0">
              <a:buNone/>
            </a:pPr>
            <a:r>
              <a:rPr lang="en-US" sz="1400" dirty="0">
                <a:solidFill>
                  <a:schemeClr val="tx1"/>
                </a:solidFill>
              </a:rPr>
              <a:t>Feedback mainly occurs at planned checkpoints.</a:t>
            </a:r>
            <a:endParaRPr lang="en-US" sz="1400" dirty="0"/>
          </a:p>
        </p:txBody>
      </p:sp>
      <p:sp>
        <p:nvSpPr>
          <p:cNvPr id="19" name="Delivery flexibility card"/>
          <p:cNvSpPr/>
          <p:nvPr/>
        </p:nvSpPr>
        <p:spPr>
          <a:xfrm>
            <a:off x="457200" y="2852928"/>
            <a:ext cx="4023360" cy="1481328"/>
          </a:xfrm>
          <a:prstGeom prst="roundRect">
            <a:avLst>
              <a:gd name="adj" fmla="val 6173"/>
            </a:avLst>
          </a:prstGeom>
          <a:solidFill>
            <a:schemeClr val="bg2"/>
          </a:solidFill>
          <a:ln/>
        </p:spPr>
      </p:sp>
      <p:sp>
        <p:nvSpPr>
          <p:cNvPr id="20" name="Delivery flexibility title"/>
          <p:cNvSpPr txBox="1"/>
          <p:nvPr/>
        </p:nvSpPr>
        <p:spPr>
          <a:xfrm>
            <a:off x="640080" y="2944368"/>
            <a:ext cx="3657600" cy="310896"/>
          </a:xfrm>
          <a:prstGeom prst="rect">
            <a:avLst/>
          </a:prstGeom>
          <a:noFill/>
          <a:ln/>
        </p:spPr>
        <p:txBody>
          <a:bodyPr wrap="square" lIns="0" tIns="0" rIns="0" bIns="0" rtlCol="0" anchor="ctr"/>
          <a:lstStyle/>
          <a:p>
            <a:pPr indent="0" marL="0">
              <a:buNone/>
            </a:pPr>
            <a:r>
              <a:rPr lang="en-US" sz="1800" b="1" dirty="0">
                <a:solidFill>
                  <a:schemeClr val="tx1"/>
                </a:solidFill>
              </a:rPr>
              <a:t>Delivery flexibility</a:t>
            </a:r>
            <a:endParaRPr lang="en-US" sz="1800" dirty="0"/>
          </a:p>
        </p:txBody>
      </p:sp>
      <p:sp>
        <p:nvSpPr>
          <p:cNvPr id="21" name="Delivery flexibility AGILE chip"/>
          <p:cNvSpPr/>
          <p:nvPr/>
        </p:nvSpPr>
        <p:spPr>
          <a:xfrm>
            <a:off x="640080" y="3383280"/>
            <a:ext cx="914400" cy="237744"/>
          </a:xfrm>
          <a:prstGeom prst="roundRect">
            <a:avLst>
              <a:gd name="adj" fmla="val 23077"/>
            </a:avLst>
          </a:prstGeom>
          <a:solidFill>
            <a:schemeClr val="accent1"/>
          </a:solidFill>
          <a:ln/>
        </p:spPr>
      </p:sp>
      <p:sp>
        <p:nvSpPr>
          <p:cNvPr id="22" name="Delivery flexibility AGILE tag"/>
          <p:cNvSpPr txBox="1"/>
          <p:nvPr/>
        </p:nvSpPr>
        <p:spPr>
          <a:xfrm>
            <a:off x="640080" y="3383280"/>
            <a:ext cx="914400" cy="237744"/>
          </a:xfrm>
          <a:prstGeom prst="rect">
            <a:avLst/>
          </a:prstGeom>
          <a:noFill/>
          <a:ln/>
        </p:spPr>
        <p:txBody>
          <a:bodyPr wrap="square" lIns="0" tIns="0" rIns="0" bIns="0" rtlCol="0" anchor="ctr"/>
          <a:lstStyle/>
          <a:p>
            <a:pPr algn="ctr" indent="0" marL="0">
              <a:buNone/>
            </a:pPr>
            <a:r>
              <a:rPr lang="en-US" sz="1000" b="1" dirty="0">
                <a:solidFill>
                  <a:schemeClr val="tx1"/>
                </a:solidFill>
              </a:rPr>
              <a:t>AGILE</a:t>
            </a:r>
            <a:endParaRPr lang="en-US" sz="1000" dirty="0"/>
          </a:p>
        </p:txBody>
      </p:sp>
      <p:sp>
        <p:nvSpPr>
          <p:cNvPr id="23" name="Delivery flexibility AGILE text"/>
          <p:cNvSpPr txBox="1"/>
          <p:nvPr/>
        </p:nvSpPr>
        <p:spPr>
          <a:xfrm>
            <a:off x="1691640" y="3310128"/>
            <a:ext cx="2651760" cy="457200"/>
          </a:xfrm>
          <a:prstGeom prst="rect">
            <a:avLst/>
          </a:prstGeom>
          <a:noFill/>
          <a:ln/>
        </p:spPr>
        <p:txBody>
          <a:bodyPr wrap="square" lIns="0" tIns="0" rIns="0" bIns="0" rtlCol="0" anchor="ctr"/>
          <a:lstStyle/>
          <a:p>
            <a:pPr indent="0" marL="0">
              <a:buNone/>
            </a:pPr>
            <a:r>
              <a:rPr lang="en-US" sz="1400" dirty="0">
                <a:solidFill>
                  <a:schemeClr val="tx1"/>
                </a:solidFill>
              </a:rPr>
              <a:t>Small releases provide useful value.</a:t>
            </a:r>
            <a:endParaRPr lang="en-US" sz="1400" dirty="0"/>
          </a:p>
        </p:txBody>
      </p:sp>
      <p:sp>
        <p:nvSpPr>
          <p:cNvPr id="24" name="Delivery flexibility PREDICTIVE chip"/>
          <p:cNvSpPr/>
          <p:nvPr/>
        </p:nvSpPr>
        <p:spPr>
          <a:xfrm>
            <a:off x="640080" y="3877056"/>
            <a:ext cx="914400" cy="237744"/>
          </a:xfrm>
          <a:prstGeom prst="roundRect">
            <a:avLst>
              <a:gd name="adj" fmla="val 23077"/>
            </a:avLst>
          </a:prstGeom>
          <a:solidFill>
            <a:schemeClr val="accent5"/>
          </a:solidFill>
          <a:ln/>
        </p:spPr>
      </p:sp>
      <p:sp>
        <p:nvSpPr>
          <p:cNvPr id="25" name="Delivery flexibility PREDICTIVE tag"/>
          <p:cNvSpPr txBox="1"/>
          <p:nvPr/>
        </p:nvSpPr>
        <p:spPr>
          <a:xfrm>
            <a:off x="640080" y="3877056"/>
            <a:ext cx="914400" cy="237744"/>
          </a:xfrm>
          <a:prstGeom prst="rect">
            <a:avLst/>
          </a:prstGeom>
          <a:noFill/>
          <a:ln/>
        </p:spPr>
        <p:txBody>
          <a:bodyPr wrap="square" lIns="0" tIns="0" rIns="0" bIns="0" rtlCol="0" anchor="ctr"/>
          <a:lstStyle/>
          <a:p>
            <a:pPr algn="ctr" indent="0" marL="0">
              <a:buNone/>
            </a:pPr>
            <a:r>
              <a:rPr lang="en-US" sz="1000" b="1" dirty="0">
                <a:solidFill>
                  <a:schemeClr val="bg1"/>
                </a:solidFill>
              </a:rPr>
              <a:t>PREDICTIVE</a:t>
            </a:r>
            <a:endParaRPr lang="en-US" sz="1000" dirty="0"/>
          </a:p>
        </p:txBody>
      </p:sp>
      <p:sp>
        <p:nvSpPr>
          <p:cNvPr id="26" name="Delivery flexibility PREDICTIVE text"/>
          <p:cNvSpPr txBox="1"/>
          <p:nvPr/>
        </p:nvSpPr>
        <p:spPr>
          <a:xfrm>
            <a:off x="1691640" y="3803904"/>
            <a:ext cx="2651760" cy="457200"/>
          </a:xfrm>
          <a:prstGeom prst="rect">
            <a:avLst/>
          </a:prstGeom>
          <a:noFill/>
          <a:ln/>
        </p:spPr>
        <p:txBody>
          <a:bodyPr wrap="square" lIns="0" tIns="0" rIns="0" bIns="0" rtlCol="0" anchor="ctr"/>
          <a:lstStyle/>
          <a:p>
            <a:pPr indent="0" marL="0">
              <a:buNone/>
            </a:pPr>
            <a:r>
              <a:rPr lang="en-US" sz="1400" dirty="0">
                <a:solidFill>
                  <a:schemeClr val="tx1"/>
                </a:solidFill>
              </a:rPr>
              <a:t>Work has major fixed dependencies.</a:t>
            </a:r>
            <a:endParaRPr lang="en-US" sz="1400" dirty="0"/>
          </a:p>
        </p:txBody>
      </p:sp>
      <p:sp>
        <p:nvSpPr>
          <p:cNvPr id="27" name="Governance card"/>
          <p:cNvSpPr/>
          <p:nvPr/>
        </p:nvSpPr>
        <p:spPr>
          <a:xfrm>
            <a:off x="4663440" y="2852928"/>
            <a:ext cx="4023360" cy="1481328"/>
          </a:xfrm>
          <a:prstGeom prst="roundRect">
            <a:avLst>
              <a:gd name="adj" fmla="val 6173"/>
            </a:avLst>
          </a:prstGeom>
          <a:solidFill>
            <a:schemeClr val="bg2"/>
          </a:solidFill>
          <a:ln/>
        </p:spPr>
      </p:sp>
      <p:sp>
        <p:nvSpPr>
          <p:cNvPr id="28" name="Governance title"/>
          <p:cNvSpPr txBox="1"/>
          <p:nvPr/>
        </p:nvSpPr>
        <p:spPr>
          <a:xfrm>
            <a:off x="4846320" y="2944368"/>
            <a:ext cx="3657600" cy="310896"/>
          </a:xfrm>
          <a:prstGeom prst="rect">
            <a:avLst/>
          </a:prstGeom>
          <a:noFill/>
          <a:ln/>
        </p:spPr>
        <p:txBody>
          <a:bodyPr wrap="square" lIns="0" tIns="0" rIns="0" bIns="0" rtlCol="0" anchor="ctr"/>
          <a:lstStyle/>
          <a:p>
            <a:pPr indent="0" marL="0">
              <a:buNone/>
            </a:pPr>
            <a:r>
              <a:rPr lang="en-US" sz="1800" b="1" dirty="0">
                <a:solidFill>
                  <a:schemeClr val="tx1"/>
                </a:solidFill>
              </a:rPr>
              <a:t>Governance</a:t>
            </a:r>
            <a:endParaRPr lang="en-US" sz="1800" dirty="0"/>
          </a:p>
        </p:txBody>
      </p:sp>
      <p:sp>
        <p:nvSpPr>
          <p:cNvPr id="29" name="Governance AGILE chip"/>
          <p:cNvSpPr/>
          <p:nvPr/>
        </p:nvSpPr>
        <p:spPr>
          <a:xfrm>
            <a:off x="4846320" y="3383280"/>
            <a:ext cx="914400" cy="237744"/>
          </a:xfrm>
          <a:prstGeom prst="roundRect">
            <a:avLst>
              <a:gd name="adj" fmla="val 23077"/>
            </a:avLst>
          </a:prstGeom>
          <a:solidFill>
            <a:schemeClr val="accent1"/>
          </a:solidFill>
          <a:ln/>
        </p:spPr>
      </p:sp>
      <p:sp>
        <p:nvSpPr>
          <p:cNvPr id="30" name="Governance AGILE tag"/>
          <p:cNvSpPr txBox="1"/>
          <p:nvPr/>
        </p:nvSpPr>
        <p:spPr>
          <a:xfrm>
            <a:off x="4846320" y="3383280"/>
            <a:ext cx="914400" cy="237744"/>
          </a:xfrm>
          <a:prstGeom prst="rect">
            <a:avLst/>
          </a:prstGeom>
          <a:noFill/>
          <a:ln/>
        </p:spPr>
        <p:txBody>
          <a:bodyPr wrap="square" lIns="0" tIns="0" rIns="0" bIns="0" rtlCol="0" anchor="ctr"/>
          <a:lstStyle/>
          <a:p>
            <a:pPr algn="ctr" indent="0" marL="0">
              <a:buNone/>
            </a:pPr>
            <a:r>
              <a:rPr lang="en-US" sz="1000" b="1" dirty="0">
                <a:solidFill>
                  <a:schemeClr val="tx1"/>
                </a:solidFill>
              </a:rPr>
              <a:t>AGILE</a:t>
            </a:r>
            <a:endParaRPr lang="en-US" sz="1000" dirty="0"/>
          </a:p>
        </p:txBody>
      </p:sp>
      <p:sp>
        <p:nvSpPr>
          <p:cNvPr id="31" name="Governance AGILE text"/>
          <p:cNvSpPr txBox="1"/>
          <p:nvPr/>
        </p:nvSpPr>
        <p:spPr>
          <a:xfrm>
            <a:off x="5897880" y="3310128"/>
            <a:ext cx="2651760" cy="457200"/>
          </a:xfrm>
          <a:prstGeom prst="rect">
            <a:avLst/>
          </a:prstGeom>
          <a:noFill/>
          <a:ln/>
        </p:spPr>
        <p:txBody>
          <a:bodyPr wrap="square" lIns="0" tIns="0" rIns="0" bIns="0" rtlCol="0" anchor="ctr"/>
          <a:lstStyle/>
          <a:p>
            <a:pPr indent="0" marL="0">
              <a:buNone/>
            </a:pPr>
            <a:r>
              <a:rPr lang="en-US" sz="1400" dirty="0">
                <a:solidFill>
                  <a:schemeClr val="tx1"/>
                </a:solidFill>
              </a:rPr>
              <a:t>Funding and scope can adapt.</a:t>
            </a:r>
            <a:endParaRPr lang="en-US" sz="1400" dirty="0"/>
          </a:p>
        </p:txBody>
      </p:sp>
      <p:sp>
        <p:nvSpPr>
          <p:cNvPr id="32" name="Governance PREDICTIVE chip"/>
          <p:cNvSpPr/>
          <p:nvPr/>
        </p:nvSpPr>
        <p:spPr>
          <a:xfrm>
            <a:off x="4846320" y="3877056"/>
            <a:ext cx="914400" cy="237744"/>
          </a:xfrm>
          <a:prstGeom prst="roundRect">
            <a:avLst>
              <a:gd name="adj" fmla="val 23077"/>
            </a:avLst>
          </a:prstGeom>
          <a:solidFill>
            <a:schemeClr val="accent5"/>
          </a:solidFill>
          <a:ln/>
        </p:spPr>
      </p:sp>
      <p:sp>
        <p:nvSpPr>
          <p:cNvPr id="33" name="Governance PREDICTIVE tag"/>
          <p:cNvSpPr txBox="1"/>
          <p:nvPr/>
        </p:nvSpPr>
        <p:spPr>
          <a:xfrm>
            <a:off x="4846320" y="3877056"/>
            <a:ext cx="914400" cy="237744"/>
          </a:xfrm>
          <a:prstGeom prst="rect">
            <a:avLst/>
          </a:prstGeom>
          <a:noFill/>
          <a:ln/>
        </p:spPr>
        <p:txBody>
          <a:bodyPr wrap="square" lIns="0" tIns="0" rIns="0" bIns="0" rtlCol="0" anchor="ctr"/>
          <a:lstStyle/>
          <a:p>
            <a:pPr algn="ctr" indent="0" marL="0">
              <a:buNone/>
            </a:pPr>
            <a:r>
              <a:rPr lang="en-US" sz="1000" b="1" dirty="0">
                <a:solidFill>
                  <a:schemeClr val="bg1"/>
                </a:solidFill>
              </a:rPr>
              <a:t>PREDICTIVE</a:t>
            </a:r>
            <a:endParaRPr lang="en-US" sz="1000" dirty="0"/>
          </a:p>
        </p:txBody>
      </p:sp>
      <p:sp>
        <p:nvSpPr>
          <p:cNvPr id="34" name="Governance PREDICTIVE text"/>
          <p:cNvSpPr txBox="1"/>
          <p:nvPr/>
        </p:nvSpPr>
        <p:spPr>
          <a:xfrm>
            <a:off x="5897880" y="3803904"/>
            <a:ext cx="2651760" cy="457200"/>
          </a:xfrm>
          <a:prstGeom prst="rect">
            <a:avLst/>
          </a:prstGeom>
          <a:noFill/>
          <a:ln/>
        </p:spPr>
        <p:txBody>
          <a:bodyPr wrap="square" lIns="0" tIns="0" rIns="0" bIns="0" rtlCol="0" anchor="ctr"/>
          <a:lstStyle/>
          <a:p>
            <a:pPr indent="0" marL="0">
              <a:buNone/>
            </a:pPr>
            <a:r>
              <a:rPr lang="en-US" sz="1400" dirty="0">
                <a:solidFill>
                  <a:schemeClr val="tx1"/>
                </a:solidFill>
              </a:rPr>
              <a:t>Contracts require detailed early commitments.</a:t>
            </a:r>
            <a:endParaRPr lang="en-US" sz="1400" dirty="0"/>
          </a:p>
        </p:txBody>
      </p:sp>
      <p:sp>
        <p:nvSpPr>
          <p:cNvPr id="35"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r>
              <a:rPr lang="en-US" sz="1100" dirty="0">
                <a:solidFill>
                  <a:schemeClr val="accent5"/>
                </a:solidFill>
              </a:rPr>
              <a:t>(Conforto, 2024; Madaan, 2024)</a:t>
            </a:r>
            <a:endParaRPr lang="en-US" sz="1100" dirty="0"/>
          </a:p>
        </p:txBody>
      </p:sp>
      <p:sp>
        <p:nvSpPr>
          <p:cNvPr id="36" name="tag caption"/>
          <p:cNvSpPr txBox="1"/>
          <p:nvPr/>
        </p:nvSpPr>
        <p:spPr>
          <a:xfrm>
            <a:off x="3840480" y="4663440"/>
            <a:ext cx="4297680" cy="274320"/>
          </a:xfrm>
          <a:prstGeom prst="rect">
            <a:avLst/>
          </a:prstGeom>
          <a:noFill/>
          <a:ln/>
        </p:spPr>
        <p:txBody>
          <a:bodyPr wrap="square" lIns="0" tIns="0" rIns="0" bIns="0" rtlCol="0" anchor="ctr"/>
          <a:lstStyle/>
          <a:p>
            <a:pPr algn="r" indent="0" marL="0">
              <a:buNone/>
            </a:pPr>
            <a:r>
              <a:rPr lang="en-US" sz="1100" dirty="0">
                <a:solidFill>
                  <a:schemeClr val="accent5"/>
                </a:solidFill>
              </a:rPr>
              <a:t>Each tag shows which approach the condition favors.</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Recommendation for the ChadaTech pilot</a:t>
            </a:r>
            <a:endParaRPr lang="en-US" sz="3200" dirty="0"/>
          </a:p>
        </p:txBody>
      </p:sp>
      <p:sp>
        <p:nvSpPr>
          <p:cNvPr id="3" name="recommendation panel"/>
          <p:cNvSpPr/>
          <p:nvPr/>
        </p:nvSpPr>
        <p:spPr>
          <a:xfrm>
            <a:off x="457200" y="1280160"/>
            <a:ext cx="3840480" cy="3063240"/>
          </a:xfrm>
          <a:prstGeom prst="roundRect">
            <a:avLst>
              <a:gd name="adj" fmla="val 2985"/>
            </a:avLst>
          </a:prstGeom>
          <a:solidFill>
            <a:schemeClr val="tx1"/>
          </a:solidFill>
          <a:ln/>
        </p:spPr>
      </p:sp>
      <p:sp>
        <p:nvSpPr>
          <p:cNvPr id="4" name="panel label"/>
          <p:cNvSpPr txBox="1"/>
          <p:nvPr/>
        </p:nvSpPr>
        <p:spPr>
          <a:xfrm>
            <a:off x="731520" y="1600200"/>
            <a:ext cx="3291840" cy="274320"/>
          </a:xfrm>
          <a:prstGeom prst="rect">
            <a:avLst/>
          </a:prstGeom>
          <a:noFill/>
          <a:ln/>
        </p:spPr>
        <p:txBody>
          <a:bodyPr wrap="square" lIns="0" tIns="0" rIns="0" bIns="0" rtlCol="0" anchor="ctr"/>
          <a:lstStyle/>
          <a:p>
            <a:pPr indent="0" marL="0">
              <a:buNone/>
            </a:pPr>
            <a:r>
              <a:rPr lang="en-US" sz="1200" b="1" spc="200" kern="0" dirty="0">
                <a:solidFill>
                  <a:schemeClr val="accent1"/>
                </a:solidFill>
              </a:rPr>
              <a:t>RECOMMENDATION</a:t>
            </a:r>
            <a:endParaRPr lang="en-US" sz="1200" dirty="0"/>
          </a:p>
        </p:txBody>
      </p:sp>
      <p:sp>
        <p:nvSpPr>
          <p:cNvPr id="5" name="panel headline"/>
          <p:cNvSpPr txBox="1"/>
          <p:nvPr/>
        </p:nvSpPr>
        <p:spPr>
          <a:xfrm>
            <a:off x="731520" y="1965960"/>
            <a:ext cx="3291840" cy="1005840"/>
          </a:xfrm>
          <a:prstGeom prst="rect">
            <a:avLst/>
          </a:prstGeom>
          <a:noFill/>
          <a:ln/>
        </p:spPr>
        <p:txBody>
          <a:bodyPr wrap="square" lIns="0" tIns="0" rIns="0" bIns="0" rtlCol="0" anchor="t"/>
          <a:lstStyle/>
          <a:p>
            <a:pPr indent="0" marL="0">
              <a:buNone/>
            </a:pPr>
            <a:r>
              <a:rPr lang="en-US" sz="2800" b="1" dirty="0">
                <a:solidFill>
                  <a:schemeClr val="bg1"/>
                </a:solidFill>
              </a:rPr>
              <a:t>Continue Scrum for SNHU Travel</a:t>
            </a:r>
            <a:endParaRPr lang="en-US" sz="2800" dirty="0"/>
          </a:p>
        </p:txBody>
      </p:sp>
      <p:sp>
        <p:nvSpPr>
          <p:cNvPr id="6" name="panel rationale"/>
          <p:cNvSpPr txBox="1"/>
          <p:nvPr/>
        </p:nvSpPr>
        <p:spPr>
          <a:xfrm>
            <a:off x="731520" y="3108960"/>
            <a:ext cx="3291840" cy="914400"/>
          </a:xfrm>
          <a:prstGeom prst="rect">
            <a:avLst/>
          </a:prstGeom>
          <a:noFill/>
          <a:ln/>
        </p:spPr>
        <p:txBody>
          <a:bodyPr wrap="square" lIns="0" tIns="0" rIns="0" bIns="0" rtlCol="0" anchor="t"/>
          <a:lstStyle/>
          <a:p>
            <a:pPr indent="0" marL="0">
              <a:buNone/>
            </a:pPr>
            <a:r>
              <a:rPr lang="en-US" sz="1600" dirty="0">
                <a:solidFill>
                  <a:schemeClr val="accent4"/>
                </a:solidFill>
              </a:rPr>
              <a:t>Personalized trips need feedback as customers clarify what they value.</a:t>
            </a:r>
            <a:endParaRPr lang="en-US" sz="1600" dirty="0"/>
          </a:p>
        </p:txBody>
      </p:sp>
      <p:sp>
        <p:nvSpPr>
          <p:cNvPr id="7" name="Next sprint card"/>
          <p:cNvSpPr/>
          <p:nvPr/>
        </p:nvSpPr>
        <p:spPr>
          <a:xfrm>
            <a:off x="4526280" y="1280160"/>
            <a:ext cx="4160520" cy="1463040"/>
          </a:xfrm>
          <a:prstGeom prst="roundRect">
            <a:avLst>
              <a:gd name="adj" fmla="val 6250"/>
            </a:avLst>
          </a:prstGeom>
          <a:solidFill>
            <a:schemeClr val="bg2"/>
          </a:solidFill>
          <a:ln/>
        </p:spPr>
      </p:sp>
      <p:sp>
        <p:nvSpPr>
          <p:cNvPr id="8" name="Next sprint title"/>
          <p:cNvSpPr txBox="1"/>
          <p:nvPr/>
        </p:nvSpPr>
        <p:spPr>
          <a:xfrm>
            <a:off x="4754880" y="1353312"/>
            <a:ext cx="3749040" cy="310896"/>
          </a:xfrm>
          <a:prstGeom prst="rect">
            <a:avLst/>
          </a:prstGeom>
          <a:noFill/>
          <a:ln/>
        </p:spPr>
        <p:txBody>
          <a:bodyPr wrap="square" lIns="0" tIns="0" rIns="0" bIns="0" rtlCol="0" anchor="ctr"/>
          <a:lstStyle/>
          <a:p>
            <a:pPr indent="0" marL="0">
              <a:buNone/>
            </a:pPr>
            <a:r>
              <a:rPr lang="en-US" sz="1800" b="1" dirty="0">
                <a:solidFill>
                  <a:schemeClr val="tx1"/>
                </a:solidFill>
              </a:rPr>
              <a:t>Next sprint</a:t>
            </a:r>
            <a:endParaRPr lang="en-US" sz="1800" dirty="0"/>
          </a:p>
        </p:txBody>
      </p:sp>
      <p:sp>
        <p:nvSpPr>
          <p:cNvPr id="9" name="Next sprint 1 check circle"/>
          <p:cNvSpPr/>
          <p:nvPr/>
        </p:nvSpPr>
        <p:spPr>
          <a:xfrm>
            <a:off x="4754880" y="1828800"/>
            <a:ext cx="274320" cy="274320"/>
          </a:xfrm>
          <a:prstGeom prst="ellipse">
            <a:avLst/>
          </a:prstGeom>
          <a:solidFill>
            <a:schemeClr val="accent1"/>
          </a:solidFill>
          <a:ln/>
        </p:spPr>
      </p:sp>
      <p:pic>
        <p:nvPicPr>
          <p:cNvPr id="10" name="Next sprint 1 check" descr="preencoded.png">    </p:cNvPr>
          <p:cNvPicPr>
            <a:picLocks noChangeAspect="1"/>
          </p:cNvPicPr>
          <p:nvPr/>
        </p:nvPicPr>
        <p:blipFill>
          <a:blip r:embed="rId1"/>
          <a:stretch>
            <a:fillRect/>
          </a:stretch>
        </p:blipFill>
        <p:spPr>
          <a:xfrm>
            <a:off x="4823460" y="1897380"/>
            <a:ext cx="137160" cy="137160"/>
          </a:xfrm>
          <a:prstGeom prst="rect">
            <a:avLst/>
          </a:prstGeom>
        </p:spPr>
      </p:pic>
      <p:sp>
        <p:nvSpPr>
          <p:cNvPr id="11" name="Next sprint 1 text"/>
          <p:cNvSpPr txBox="1"/>
          <p:nvPr/>
        </p:nvSpPr>
        <p:spPr>
          <a:xfrm>
            <a:off x="5166360" y="1737360"/>
            <a:ext cx="3337560" cy="457200"/>
          </a:xfrm>
          <a:prstGeom prst="rect">
            <a:avLst/>
          </a:prstGeom>
          <a:noFill/>
          <a:ln/>
        </p:spPr>
        <p:txBody>
          <a:bodyPr wrap="square" lIns="0" tIns="0" rIns="0" bIns="0" rtlCol="0" anchor="ctr"/>
          <a:lstStyle/>
          <a:p>
            <a:pPr indent="0" marL="0">
              <a:buNone/>
            </a:pPr>
            <a:r>
              <a:rPr lang="en-US" sz="1600" dirty="0">
                <a:solidFill>
                  <a:schemeClr val="tx1"/>
                </a:solidFill>
              </a:rPr>
              <a:t>Clarify filter acceptance criteria.</a:t>
            </a:r>
            <a:endParaRPr lang="en-US" sz="1600" dirty="0"/>
          </a:p>
        </p:txBody>
      </p:sp>
      <p:sp>
        <p:nvSpPr>
          <p:cNvPr id="12" name="Next sprint 2 check circle"/>
          <p:cNvSpPr/>
          <p:nvPr/>
        </p:nvSpPr>
        <p:spPr>
          <a:xfrm>
            <a:off x="4754880" y="2286000"/>
            <a:ext cx="274320" cy="274320"/>
          </a:xfrm>
          <a:prstGeom prst="ellipse">
            <a:avLst/>
          </a:prstGeom>
          <a:solidFill>
            <a:schemeClr val="accent1"/>
          </a:solidFill>
          <a:ln/>
        </p:spPr>
      </p:sp>
      <p:pic>
        <p:nvPicPr>
          <p:cNvPr id="13" name="Next sprint 2 check" descr="preencoded.png">    </p:cNvPr>
          <p:cNvPicPr>
            <a:picLocks noChangeAspect="1"/>
          </p:cNvPicPr>
          <p:nvPr/>
        </p:nvPicPr>
        <p:blipFill>
          <a:blip r:embed="rId2"/>
          <a:stretch>
            <a:fillRect/>
          </a:stretch>
        </p:blipFill>
        <p:spPr>
          <a:xfrm>
            <a:off x="4823460" y="2354580"/>
            <a:ext cx="137160" cy="137160"/>
          </a:xfrm>
          <a:prstGeom prst="rect">
            <a:avLst/>
          </a:prstGeom>
        </p:spPr>
      </p:pic>
      <p:sp>
        <p:nvSpPr>
          <p:cNvPr id="14" name="Next sprint 2 text"/>
          <p:cNvSpPr txBox="1"/>
          <p:nvPr/>
        </p:nvSpPr>
        <p:spPr>
          <a:xfrm>
            <a:off x="5166360" y="2194560"/>
            <a:ext cx="3337560" cy="457200"/>
          </a:xfrm>
          <a:prstGeom prst="rect">
            <a:avLst/>
          </a:prstGeom>
          <a:noFill/>
          <a:ln/>
        </p:spPr>
        <p:txBody>
          <a:bodyPr wrap="square" lIns="0" tIns="0" rIns="0" bIns="0" rtlCol="0" anchor="ctr"/>
          <a:lstStyle/>
          <a:p>
            <a:pPr indent="0" marL="0">
              <a:buNone/>
            </a:pPr>
            <a:r>
              <a:rPr lang="en-US" sz="1600" dirty="0">
                <a:solidFill>
                  <a:schemeClr val="tx1"/>
                </a:solidFill>
              </a:rPr>
              <a:t>Verify the exported application early.</a:t>
            </a:r>
            <a:endParaRPr lang="en-US" sz="1600" dirty="0"/>
          </a:p>
        </p:txBody>
      </p:sp>
      <p:sp>
        <p:nvSpPr>
          <p:cNvPr id="15" name="Evidence to review card"/>
          <p:cNvSpPr/>
          <p:nvPr/>
        </p:nvSpPr>
        <p:spPr>
          <a:xfrm>
            <a:off x="4526280" y="2880360"/>
            <a:ext cx="4160520" cy="1463040"/>
          </a:xfrm>
          <a:prstGeom prst="roundRect">
            <a:avLst>
              <a:gd name="adj" fmla="val 6250"/>
            </a:avLst>
          </a:prstGeom>
          <a:solidFill>
            <a:schemeClr val="bg2"/>
          </a:solidFill>
          <a:ln/>
        </p:spPr>
      </p:sp>
      <p:sp>
        <p:nvSpPr>
          <p:cNvPr id="16" name="Evidence to review title"/>
          <p:cNvSpPr txBox="1"/>
          <p:nvPr/>
        </p:nvSpPr>
        <p:spPr>
          <a:xfrm>
            <a:off x="4754880" y="2953512"/>
            <a:ext cx="3749040" cy="310896"/>
          </a:xfrm>
          <a:prstGeom prst="rect">
            <a:avLst/>
          </a:prstGeom>
          <a:noFill/>
          <a:ln/>
        </p:spPr>
        <p:txBody>
          <a:bodyPr wrap="square" lIns="0" tIns="0" rIns="0" bIns="0" rtlCol="0" anchor="ctr"/>
          <a:lstStyle/>
          <a:p>
            <a:pPr indent="0" marL="0">
              <a:buNone/>
            </a:pPr>
            <a:r>
              <a:rPr lang="en-US" sz="1800" b="1" dirty="0">
                <a:solidFill>
                  <a:schemeClr val="tx1"/>
                </a:solidFill>
              </a:rPr>
              <a:t>Evidence to review</a:t>
            </a:r>
            <a:endParaRPr lang="en-US" sz="1800" dirty="0"/>
          </a:p>
        </p:txBody>
      </p:sp>
      <p:sp>
        <p:nvSpPr>
          <p:cNvPr id="17" name="Evidence to review 1 check circle"/>
          <p:cNvSpPr/>
          <p:nvPr/>
        </p:nvSpPr>
        <p:spPr>
          <a:xfrm>
            <a:off x="4754880" y="3429000"/>
            <a:ext cx="274320" cy="274320"/>
          </a:xfrm>
          <a:prstGeom prst="ellipse">
            <a:avLst/>
          </a:prstGeom>
          <a:solidFill>
            <a:schemeClr val="accent1"/>
          </a:solidFill>
          <a:ln/>
        </p:spPr>
      </p:sp>
      <p:pic>
        <p:nvPicPr>
          <p:cNvPr id="18" name="Evidence to review 1 check" descr="preencoded.png">    </p:cNvPr>
          <p:cNvPicPr>
            <a:picLocks noChangeAspect="1"/>
          </p:cNvPicPr>
          <p:nvPr/>
        </p:nvPicPr>
        <p:blipFill>
          <a:blip r:embed="rId3"/>
          <a:stretch>
            <a:fillRect/>
          </a:stretch>
        </p:blipFill>
        <p:spPr>
          <a:xfrm>
            <a:off x="4823460" y="3497580"/>
            <a:ext cx="137160" cy="137160"/>
          </a:xfrm>
          <a:prstGeom prst="rect">
            <a:avLst/>
          </a:prstGeom>
        </p:spPr>
      </p:pic>
      <p:sp>
        <p:nvSpPr>
          <p:cNvPr id="19" name="Evidence to review 1 text"/>
          <p:cNvSpPr txBox="1"/>
          <p:nvPr/>
        </p:nvSpPr>
        <p:spPr>
          <a:xfrm>
            <a:off x="5166360" y="3337560"/>
            <a:ext cx="3337560" cy="457200"/>
          </a:xfrm>
          <a:prstGeom prst="rect">
            <a:avLst/>
          </a:prstGeom>
          <a:noFill/>
          <a:ln/>
        </p:spPr>
        <p:txBody>
          <a:bodyPr wrap="square" lIns="0" tIns="0" rIns="0" bIns="0" rtlCol="0" anchor="ctr"/>
          <a:lstStyle/>
          <a:p>
            <a:pPr indent="0" marL="0">
              <a:buNone/>
            </a:pPr>
            <a:r>
              <a:rPr lang="en-US" sz="1600" dirty="0">
                <a:solidFill>
                  <a:schemeClr val="tx1"/>
                </a:solidFill>
              </a:rPr>
              <a:t>Reopened stories and blocked work.</a:t>
            </a:r>
            <a:endParaRPr lang="en-US" sz="1600" dirty="0"/>
          </a:p>
        </p:txBody>
      </p:sp>
      <p:sp>
        <p:nvSpPr>
          <p:cNvPr id="20" name="Evidence to review 2 check circle"/>
          <p:cNvSpPr/>
          <p:nvPr/>
        </p:nvSpPr>
        <p:spPr>
          <a:xfrm>
            <a:off x="4754880" y="3886200"/>
            <a:ext cx="274320" cy="274320"/>
          </a:xfrm>
          <a:prstGeom prst="ellipse">
            <a:avLst/>
          </a:prstGeom>
          <a:solidFill>
            <a:schemeClr val="accent1"/>
          </a:solidFill>
          <a:ln/>
        </p:spPr>
      </p:sp>
      <p:pic>
        <p:nvPicPr>
          <p:cNvPr id="21" name="Evidence to review 2 check" descr="preencoded.png">    </p:cNvPr>
          <p:cNvPicPr>
            <a:picLocks noChangeAspect="1"/>
          </p:cNvPicPr>
          <p:nvPr/>
        </p:nvPicPr>
        <p:blipFill>
          <a:blip r:embed="rId4"/>
          <a:stretch>
            <a:fillRect/>
          </a:stretch>
        </p:blipFill>
        <p:spPr>
          <a:xfrm>
            <a:off x="4823460" y="3954780"/>
            <a:ext cx="137160" cy="137160"/>
          </a:xfrm>
          <a:prstGeom prst="rect">
            <a:avLst/>
          </a:prstGeom>
        </p:spPr>
      </p:pic>
      <p:sp>
        <p:nvSpPr>
          <p:cNvPr id="22" name="Evidence to review 2 text"/>
          <p:cNvSpPr txBox="1"/>
          <p:nvPr/>
        </p:nvSpPr>
        <p:spPr>
          <a:xfrm>
            <a:off x="5166360" y="3794760"/>
            <a:ext cx="3337560" cy="457200"/>
          </a:xfrm>
          <a:prstGeom prst="rect">
            <a:avLst/>
          </a:prstGeom>
          <a:noFill/>
          <a:ln/>
        </p:spPr>
        <p:txBody>
          <a:bodyPr wrap="square" lIns="0" tIns="0" rIns="0" bIns="0" rtlCol="0" anchor="ctr"/>
          <a:lstStyle/>
          <a:p>
            <a:pPr indent="0" marL="0">
              <a:buNone/>
            </a:pPr>
            <a:r>
              <a:rPr lang="en-US" sz="1600" dirty="0">
                <a:solidFill>
                  <a:schemeClr val="tx1"/>
                </a:solidFill>
              </a:rPr>
              <a:t>Customer feedback on completed features.</a:t>
            </a:r>
            <a:endParaRPr lang="en-US" sz="1600" dirty="0"/>
          </a:p>
        </p:txBody>
      </p:sp>
      <p:sp>
        <p:nvSpPr>
          <p:cNvPr id="23"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r>
              <a:rPr lang="en-US" sz="1100" dirty="0">
                <a:solidFill>
                  <a:schemeClr val="accent5"/>
                </a:solidFill>
              </a:rPr>
              <a:t>(Conforto, 2024; Iqbal, 2022)</a:t>
            </a: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title" hasCustomPrompt="1"/>
          </p:nvPr>
        </p:nvSpPr>
        <p:spPr>
          <a:xfrm>
            <a:off x="548640" y="914400"/>
            <a:ext cx="4754880" cy="1737360"/>
          </a:xfrm>
          <a:prstGeom prst="rect">
            <a:avLst/>
          </a:prstGeom>
          <a:noFill/>
          <a:ln/>
        </p:spPr>
        <p:txBody>
          <a:bodyPr wrap="square" lIns="0" tIns="0" rIns="0" bIns="0" rtlCol="0" anchor="b"/>
          <a:lstStyle/>
          <a:p>
            <a:pPr algn="l" indent="0" marL="0">
              <a:buNone/>
            </a:pPr>
            <a:r>
              <a:rPr lang="en-US" sz="4000" b="1" dirty="0">
                <a:solidFill>
                  <a:schemeClr val="bg1"/>
                </a:solidFill>
              </a:rPr>
              <a:t>Questions?</a:t>
            </a:r>
            <a:endParaRPr lang="en-US" sz="4000" dirty="0"/>
          </a:p>
        </p:txBody>
      </p:sp>
      <p:sp>
        <p:nvSpPr>
          <p:cNvPr id="3" name="Text 0"/>
          <p:cNvSpPr/>
          <p:nvPr>
            <p:ph idx="102" type="body" hasCustomPrompt="1"/>
          </p:nvPr>
        </p:nvSpPr>
        <p:spPr>
          <a:xfrm>
            <a:off x="548640" y="2788920"/>
            <a:ext cx="4754880" cy="457200"/>
          </a:xfrm>
          <a:prstGeom prst="rect">
            <a:avLst/>
          </a:prstGeom>
          <a:noFill/>
          <a:ln/>
        </p:spPr>
        <p:txBody>
          <a:bodyPr wrap="square" lIns="0" tIns="0" rIns="0" bIns="0" rtlCol="0" anchor="t"/>
          <a:lstStyle/>
          <a:p>
            <a:pPr indent="0" marL="0">
              <a:buNone/>
            </a:pPr>
            <a:r>
              <a:rPr lang="en-US" sz="2000" dirty="0">
                <a:solidFill>
                  <a:schemeClr val="accent1"/>
                </a:solidFill>
              </a:rPr>
              <a:t>Thank you</a:t>
            </a:r>
            <a:endParaRPr lang="en-US" sz="2000" dirty="0"/>
          </a:p>
        </p:txBody>
      </p:sp>
      <p:sp>
        <p:nvSpPr>
          <p:cNvPr id="4" name="Text 0"/>
          <p:cNvSpPr/>
          <p:nvPr>
            <p:ph idx="103" type="body" hasCustomPrompt="1"/>
          </p:nvPr>
        </p:nvSpPr>
        <p:spPr>
          <a:xfrm>
            <a:off x="548640" y="3566160"/>
            <a:ext cx="4754880" cy="868680"/>
          </a:xfrm>
          <a:prstGeom prst="rect">
            <a:avLst/>
          </a:prstGeom>
          <a:noFill/>
          <a:ln/>
        </p:spPr>
        <p:txBody>
          <a:bodyPr wrap="square" lIns="0" tIns="0" rIns="0" bIns="0" rtlCol="0" anchor="t"/>
          <a:lstStyle/>
          <a:p>
            <a:pPr indent="0" marL="0">
              <a:buNone/>
            </a:pPr>
            <a:r>
              <a:rPr lang="en-US" sz="1400" b="1" dirty="0">
                <a:solidFill>
                  <a:schemeClr val="bg1"/>
                </a:solidFill>
              </a:rPr>
              <a:t>William Anderson</a:t>
            </a:r>
            <a:endParaRPr lang="en-US" sz="1400" dirty="0"/>
          </a:p>
          <a:p>
            <a:pPr indent="0" marL="0">
              <a:buNone/>
            </a:pPr>
            <a:r>
              <a:rPr lang="en-US" sz="1400" dirty="0">
                <a:solidFill>
                  <a:schemeClr val="accent4"/>
                </a:solidFill>
              </a:rPr>
              <a:t>CS 250 Software Development Lifecycle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References</a:t>
            </a:r>
            <a:endParaRPr lang="en-US" sz="3200" dirty="0"/>
          </a:p>
        </p:txBody>
      </p:sp>
      <p:sp>
        <p:nvSpPr>
          <p:cNvPr id="3" name="references"/>
          <p:cNvSpPr txBox="1"/>
          <p:nvPr/>
        </p:nvSpPr>
        <p:spPr>
          <a:xfrm>
            <a:off x="457200" y="1371600"/>
            <a:ext cx="8229600" cy="3108960"/>
          </a:xfrm>
          <a:prstGeom prst="rect">
            <a:avLst/>
          </a:prstGeom>
          <a:noFill/>
          <a:ln/>
        </p:spPr>
        <p:txBody>
          <a:bodyPr wrap="square" lIns="0" tIns="0" rIns="0" bIns="0" rtlCol="0" anchor="t"/>
          <a:lstStyle/>
          <a:p>
            <a:pPr indent="0" marL="0">
              <a:spcAft>
                <a:spcPts val="1400"/>
              </a:spcAft>
              <a:buNone/>
            </a:pPr>
            <a:r>
              <a:rPr lang="en-US" sz="1600" dirty="0">
                <a:solidFill>
                  <a:schemeClr val="tx1"/>
                </a:solidFill>
              </a:rPr>
              <a:t>Conforto, E. (2024, February 23). </a:t>
            </a:r>
            <a:pPr indent="0" marL="0">
              <a:spcAft>
                <a:spcPts val="1400"/>
              </a:spcAft>
              <a:buNone/>
            </a:pPr>
            <a:r>
              <a:rPr lang="en-US" sz="1600" i="1" dirty="0">
                <a:solidFill>
                  <a:schemeClr val="tx1"/>
                </a:solidFill>
              </a:rPr>
              <a:t>The hybrid era: Project management embraces the fit-for-purpose approach.</a:t>
            </a:r>
            <a:pPr indent="0" marL="0">
              <a:spcAft>
                <a:spcPts val="1400"/>
              </a:spcAft>
              <a:buNone/>
            </a:pPr>
            <a:r>
              <a:rPr lang="en-US" sz="1600" dirty="0">
                <a:solidFill>
                  <a:schemeClr val="tx1"/>
                </a:solidFill>
              </a:rPr>
              <a:t> Project Management Institute. https://www.pmi.org/blog/project-management-embraces-the-fit-for-purpose-approach</a:t>
            </a:r>
            <a:endParaRPr lang="en-US" sz="1600" dirty="0"/>
          </a:p>
          <a:p>
            <a:pPr indent="0" marL="0">
              <a:spcAft>
                <a:spcPts val="1400"/>
              </a:spcAft>
              <a:buNone/>
            </a:pPr>
            <a:r>
              <a:rPr lang="en-US" sz="1600" dirty="0">
                <a:solidFill>
                  <a:schemeClr val="tx1"/>
                </a:solidFill>
              </a:rPr>
              <a:t>Iqbal, M. (2022, May 31). </a:t>
            </a:r>
            <a:pPr indent="0" marL="0">
              <a:spcAft>
                <a:spcPts val="1400"/>
              </a:spcAft>
              <a:buNone/>
            </a:pPr>
            <a:r>
              <a:rPr lang="en-US" sz="1600" i="1" dirty="0">
                <a:solidFill>
                  <a:schemeClr val="tx1"/>
                </a:solidFill>
              </a:rPr>
              <a:t>The purpose of the five Scrum events.</a:t>
            </a:r>
            <a:pPr indent="0" marL="0">
              <a:spcAft>
                <a:spcPts val="1400"/>
              </a:spcAft>
              <a:buNone/>
            </a:pPr>
            <a:r>
              <a:rPr lang="en-US" sz="1600" dirty="0">
                <a:solidFill>
                  <a:schemeClr val="tx1"/>
                </a:solidFill>
              </a:rPr>
              <a:t> Scrum.org. https://www.scrum.org/node/59683</a:t>
            </a:r>
            <a:endParaRPr lang="en-US" sz="1600" dirty="0"/>
          </a:p>
          <a:p>
            <a:pPr indent="0" marL="0">
              <a:spcAft>
                <a:spcPts val="1400"/>
              </a:spcAft>
              <a:buNone/>
            </a:pPr>
            <a:r>
              <a:rPr lang="en-US" sz="1600" dirty="0">
                <a:solidFill>
                  <a:schemeClr val="tx1"/>
                </a:solidFill>
              </a:rPr>
              <a:t>Jackson, G., Holdsworth, J., &amp; Kosinski, M. (n.d.). </a:t>
            </a:r>
            <a:pPr indent="0" marL="0">
              <a:spcAft>
                <a:spcPts val="1400"/>
              </a:spcAft>
              <a:buNone/>
            </a:pPr>
            <a:r>
              <a:rPr lang="en-US" sz="1600" i="1" dirty="0">
                <a:solidFill>
                  <a:schemeClr val="tx1"/>
                </a:solidFill>
              </a:rPr>
              <a:t>What is the software development life cycle (SDLC)?</a:t>
            </a:r>
            <a:pPr indent="0" marL="0">
              <a:spcAft>
                <a:spcPts val="1400"/>
              </a:spcAft>
              <a:buNone/>
            </a:pPr>
            <a:r>
              <a:rPr lang="en-US" sz="1600" dirty="0">
                <a:solidFill>
                  <a:schemeClr val="tx1"/>
                </a:solidFill>
              </a:rPr>
              <a:t> IBM. https://www.ibm.com/think/topics/sdlc</a:t>
            </a:r>
            <a:endParaRPr lang="en-US" sz="1600" dirty="0"/>
          </a:p>
        </p:txBody>
      </p:sp>
      <p:sp>
        <p:nvSpPr>
          <p:cNvPr id="5"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title" hasCustomPrompt="1"/>
          </p:nvPr>
        </p:nvSpPr>
        <p:spPr>
          <a:xfrm>
            <a:off x="457200" y="274320"/>
            <a:ext cx="7132320" cy="914400"/>
          </a:xfrm>
          <a:prstGeom prst="rect">
            <a:avLst/>
          </a:prstGeom>
          <a:noFill/>
          <a:ln/>
        </p:spPr>
        <p:txBody>
          <a:bodyPr wrap="square" lIns="0" tIns="0" rIns="0" bIns="0" rtlCol="0" anchor="ctr"/>
          <a:lstStyle/>
          <a:p>
            <a:pPr algn="l" indent="0" marL="0">
              <a:buNone/>
            </a:pPr>
            <a:r>
              <a:rPr lang="en-US" sz="3200" b="1" dirty="0">
                <a:solidFill>
                  <a:schemeClr val="tx1"/>
                </a:solidFill>
              </a:rPr>
              <a:t>References continued</a:t>
            </a:r>
            <a:endParaRPr lang="en-US" sz="3200" dirty="0"/>
          </a:p>
        </p:txBody>
      </p:sp>
      <p:sp>
        <p:nvSpPr>
          <p:cNvPr id="3" name="references"/>
          <p:cNvSpPr txBox="1"/>
          <p:nvPr/>
        </p:nvSpPr>
        <p:spPr>
          <a:xfrm>
            <a:off x="457200" y="1371600"/>
            <a:ext cx="8229600" cy="3108960"/>
          </a:xfrm>
          <a:prstGeom prst="rect">
            <a:avLst/>
          </a:prstGeom>
          <a:noFill/>
          <a:ln/>
        </p:spPr>
        <p:txBody>
          <a:bodyPr wrap="square" lIns="0" tIns="0" rIns="0" bIns="0" rtlCol="0" anchor="t"/>
          <a:lstStyle/>
          <a:p>
            <a:pPr indent="0" marL="0">
              <a:spcAft>
                <a:spcPts val="1400"/>
              </a:spcAft>
              <a:buNone/>
            </a:pPr>
            <a:r>
              <a:rPr lang="en-US" sz="1600" dirty="0">
                <a:solidFill>
                  <a:schemeClr val="tx1"/>
                </a:solidFill>
              </a:rPr>
              <a:t>Kaczor, K. (2025, April 7). </a:t>
            </a:r>
            <a:pPr indent="0" marL="0">
              <a:spcAft>
                <a:spcPts val="1400"/>
              </a:spcAft>
              <a:buNone/>
            </a:pPr>
            <a:r>
              <a:rPr lang="en-US" sz="1600" i="1" dirty="0">
                <a:solidFill>
                  <a:schemeClr val="tx1"/>
                </a:solidFill>
              </a:rPr>
              <a:t>Accountability, responsibility and authority in Scrum.</a:t>
            </a:r>
            <a:pPr indent="0" marL="0">
              <a:spcAft>
                <a:spcPts val="1400"/>
              </a:spcAft>
              <a:buNone/>
            </a:pPr>
            <a:r>
              <a:rPr lang="en-US" sz="1600" dirty="0">
                <a:solidFill>
                  <a:schemeClr val="tx1"/>
                </a:solidFill>
              </a:rPr>
              <a:t> Scrum.org. https://www.scrum.org/resources/blog/accountability-responsibility-and-authority-scrum</a:t>
            </a:r>
            <a:endParaRPr lang="en-US" sz="1600" dirty="0"/>
          </a:p>
          <a:p>
            <a:pPr indent="0" marL="0">
              <a:spcAft>
                <a:spcPts val="1400"/>
              </a:spcAft>
              <a:buNone/>
            </a:pPr>
            <a:r>
              <a:rPr lang="en-US" sz="1600" dirty="0">
                <a:solidFill>
                  <a:schemeClr val="tx1"/>
                </a:solidFill>
              </a:rPr>
              <a:t>Madaan, K. (2024, April 30). </a:t>
            </a:r>
            <a:pPr indent="0" marL="0">
              <a:spcAft>
                <a:spcPts val="1400"/>
              </a:spcAft>
              <a:buNone/>
            </a:pPr>
            <a:r>
              <a:rPr lang="en-US" sz="1600" i="1" dirty="0">
                <a:solidFill>
                  <a:schemeClr val="tx1"/>
                </a:solidFill>
              </a:rPr>
              <a:t>Waterfall-ish playbook: How Jira Align helps traditional projects and portfolios succeed.</a:t>
            </a:r>
            <a:pPr indent="0" marL="0">
              <a:spcAft>
                <a:spcPts val="1400"/>
              </a:spcAft>
              <a:buNone/>
            </a:pPr>
            <a:r>
              <a:rPr lang="en-US" sz="1600" dirty="0">
                <a:solidFill>
                  <a:schemeClr val="tx1"/>
                </a:solidFill>
              </a:rPr>
              <a:t> Atlassian. https://www.atlassian.com/blog/jira-align/bringing-agility-to-project-mgmt</a:t>
            </a:r>
            <a:endParaRPr lang="en-US" sz="1600" dirty="0"/>
          </a:p>
        </p:txBody>
      </p:sp>
      <p:sp>
        <p:nvSpPr>
          <p:cNvPr id="5" name="Text 0"/>
          <p:cNvSpPr/>
          <p:nvPr>
            <p:ph idx="102" type="body" hasCustomPrompt="1"/>
          </p:nvPr>
        </p:nvSpPr>
        <p:spPr>
          <a:xfrm>
            <a:off x="457200" y="4663440"/>
            <a:ext cx="6858000" cy="274320"/>
          </a:xfrm>
          <a:prstGeom prst="rect">
            <a:avLst/>
          </a:prstGeom>
          <a:noFill/>
          <a:ln/>
        </p:spPr>
        <p:txBody>
          <a:bodyPr wrap="square" lIns="0" tIns="0" rIns="0" bIns="0" rtlCol="0" anchor="ctr"/>
          <a:lstStyle/>
          <a:p>
            <a:pPr indent="0" marL="0">
              <a:buNone/>
            </a:pPr>
            <a:endParaRPr lang="en-US" sz="1100" dirty="0"/>
          </a:p>
        </p:txBody>
      </p:sp>
      <p:sp>
        <p:nvSpPr>
          <p:cNvPr id="25" name="Slide Number Placeholder 0"/>
          <p:cNvSpPr>
            <a:spLocks noGrp="1"/>
          </p:cNvSpPr>
          <p:nvPr>
            <p:ph type="sldNum" sz="quarter" idx="4294967295"/>
          </p:nvPr>
        </p:nvSpPr>
        <p:spPr>
          <a:xfrm>
            <a:off x="8229600" y="466344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chemeClr val="accent5"/>
                </a:solidFill>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ChadaTech">
  <a:themeElements>
    <a:clrScheme name="ChadaTech">
      <a:dk1>
        <a:srgbClr val="0A0D12"/>
      </a:dk1>
      <a:lt1>
        <a:srgbClr val="FFFFFF"/>
      </a:lt1>
      <a:dk2>
        <a:srgbClr val="16222E"/>
      </a:dk2>
      <a:lt2>
        <a:srgbClr val="E8F5FE"/>
      </a:lt2>
      <a:accent1>
        <a:srgbClr val="27B1FA"/>
      </a:accent1>
      <a:accent2>
        <a:srgbClr val="0A6FB0"/>
      </a:accent2>
      <a:accent3>
        <a:srgbClr val="80D1FB"/>
      </a:accent3>
      <a:accent4>
        <a:srgbClr val="CBECFD"/>
      </a:accent4>
      <a:accent5>
        <a:srgbClr val="5F5F5F"/>
      </a:accent5>
      <a:accent6>
        <a:srgbClr val="8A8A8A"/>
      </a:accent6>
      <a:hlink>
        <a:srgbClr val="0A6FB0"/>
      </a:hlink>
      <a:folHlink>
        <a:srgbClr val="5F5F5F"/>
      </a:folHlink>
    </a:clrScheme>
    <a:fontScheme name="ChadaTec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Scrum and Agile for SNHU Travel</dc:title>
  <dc:subject>PptxGenJS Presentation</dc:subject>
  <dc:creator>William Anderson</dc:creator>
  <cp:lastModifiedBy>William Anderson</cp:lastModifiedBy>
  <cp:revision>1</cp:revision>
  <dcterms:created xsi:type="dcterms:W3CDTF">2026-10-18T16:38:28Z</dcterms:created>
  <dcterms:modified xsi:type="dcterms:W3CDTF">2026-10-18T16:38:28Z</dcterms:modified>
</cp:coreProperties>
</file>